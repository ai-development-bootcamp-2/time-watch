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9FEC15-8443-4FA5-A485-DE1223D571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75AC3D2B-8884-4BCB-B5BC-A2E05B0DD61E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DA1B52-DE02-40A5-9A87-2E44F3A38C4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906000" cy="9525"/>
          </a:xfrm>
          <a:prstGeom prst="rect">
            <a:avLst/>
          </a:prstGeom>
          <a:solidFill>
            <a:srgbClr val="D9D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68987A-31FC-45EE-AD8F-B8985AEDB2C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609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Time Watch / dev branch / security &amp; validation review</a:t>
            </a:r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DE724E04-2466-40A9-A1D3-D21151D1297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476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6E464938-19ED-4660-9B3F-C1A2C58C53E0}"/>
              </a:ext>
            </a:extLst>
          </p:cNvPr>
          <p:cNvSpPr>
            <a:spLocks noGrp="1"/>
          </p:cNvSpPr>
          <p:nvPr/>
        </p:nvSpPr>
        <p:spPr>
          <a:xfrm>
            <a:off x="97155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PROJECT OVERVIEW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A5213E-D40C-427B-A398-6ED792FC58E6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239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Time Watch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ED4BC1-5F9F-4190-A26B-6FA0BB377877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723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 secure, admin-managed hours reporting platform for Hebrew RTL workforces.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666108-A2B3-45B9-8AC6-7F527F3AFDDC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3314700" cy="1676400"/>
          </a:xfrm>
          <a:prstGeom prst="rect">
            <a:avLst/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CEB6F7-8EEB-4C41-BC71-EF2EFA5FDD1B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7F3D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7F3D0"/>
                </a:solidFill>
                <a:latin typeface="Aptos Mono"/>
                <a:ea typeface="Aptos Mono"/>
                <a:cs typeface="Aptos Mono"/>
              </a:rPr>
              <a:t>Security thesis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A841DE-699B-4E06-AA36-5361774BB053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24955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Authentication and validation are centralized before business routes mutate reporting data.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4D4EF4-5A65-4E7E-BA3A-59473BB58CC3}"/>
              </a:ext>
            </a:extLst>
          </p:cNvPr>
          <p:cNvSpPr>
            <a:spLocks noGrp="1"/>
          </p:cNvSpPr>
          <p:nvPr/>
        </p:nvSpPr>
        <p:spPr>
          <a:xfrm>
            <a:off x="4343400" y="2876550"/>
            <a:ext cx="1466850" cy="1314450"/>
          </a:xfrm>
          <a:prstGeom prst="rect">
            <a:avLst/>
          </a:prstGeom>
          <a:solidFill>
            <a:srgbClr val="EAF0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7753F0-FCE1-4095-BB82-E1E289E69139}"/>
              </a:ext>
            </a:extLst>
          </p:cNvPr>
          <p:cNvSpPr>
            <a:spLocks noGrp="1"/>
          </p:cNvSpPr>
          <p:nvPr/>
        </p:nvSpPr>
        <p:spPr>
          <a:xfrm>
            <a:off x="4476750" y="3086100"/>
            <a:ext cx="1200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JWT cookie sessions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358218-5573-4838-A823-22B1A0EBC634}"/>
              </a:ext>
            </a:extLst>
          </p:cNvPr>
          <p:cNvSpPr>
            <a:spLocks noGrp="1"/>
          </p:cNvSpPr>
          <p:nvPr/>
        </p:nvSpPr>
        <p:spPr>
          <a:xfrm>
            <a:off x="4476750" y="367665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HttpOnly + SameSite=strict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723832-C071-4D2E-9EB4-07B199EE240B}"/>
              </a:ext>
            </a:extLst>
          </p:cNvPr>
          <p:cNvSpPr>
            <a:spLocks noGrp="1"/>
          </p:cNvSpPr>
          <p:nvPr/>
        </p:nvSpPr>
        <p:spPr>
          <a:xfrm>
            <a:off x="6096000" y="2876550"/>
            <a:ext cx="1466850" cy="1314450"/>
          </a:xfrm>
          <a:prstGeom prst="rect">
            <a:avLst/>
          </a:prstGeom>
          <a:solidFill>
            <a:srgbClr val="E4F4F0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B729E9-CA48-42F6-8302-FEE02CA4A8BA}"/>
              </a:ext>
            </a:extLst>
          </p:cNvPr>
          <p:cNvSpPr>
            <a:spLocks noGrp="1"/>
          </p:cNvSpPr>
          <p:nvPr/>
        </p:nvSpPr>
        <p:spPr>
          <a:xfrm>
            <a:off x="6229350" y="3086100"/>
            <a:ext cx="1200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bcrypt cost 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059E0B-A32B-43A7-AC65-B6F5827347FE}"/>
              </a:ext>
            </a:extLst>
          </p:cNvPr>
          <p:cNvSpPr>
            <a:spLocks noGrp="1"/>
          </p:cNvSpPr>
          <p:nvPr/>
        </p:nvSpPr>
        <p:spPr>
          <a:xfrm>
            <a:off x="6229350" y="367665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lockout after failed attempts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B93300-0F8E-4CB5-9B00-0A70B44ACA3F}"/>
              </a:ext>
            </a:extLst>
          </p:cNvPr>
          <p:cNvSpPr>
            <a:spLocks noGrp="1"/>
          </p:cNvSpPr>
          <p:nvPr/>
        </p:nvSpPr>
        <p:spPr>
          <a:xfrm>
            <a:off x="7848600" y="2876550"/>
            <a:ext cx="1466850" cy="1314450"/>
          </a:xfrm>
          <a:prstGeom prst="rect">
            <a:avLst/>
          </a:prstGeom>
          <a:solidFill>
            <a:srgbClr val="FFF1D6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4B2E34-2305-4357-AAD6-A1B886F82B80}"/>
              </a:ext>
            </a:extLst>
          </p:cNvPr>
          <p:cNvSpPr>
            <a:spLocks noGrp="1"/>
          </p:cNvSpPr>
          <p:nvPr/>
        </p:nvSpPr>
        <p:spPr>
          <a:xfrm>
            <a:off x="7981950" y="3086100"/>
            <a:ext cx="1200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RBAC admin routes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CE14B4-A51B-47C7-9BDD-33AD9B0B69F1}"/>
              </a:ext>
            </a:extLst>
          </p:cNvPr>
          <p:cNvSpPr>
            <a:spLocks noGrp="1"/>
          </p:cNvSpPr>
          <p:nvPr/>
        </p:nvSpPr>
        <p:spPr>
          <a:xfrm>
            <a:off x="7981950" y="367665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requireRole(admin) guard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C9EB8A-7388-4526-A874-898942CF20E4}"/>
              </a:ext>
            </a:extLst>
          </p:cNvPr>
          <p:cNvSpPr>
            <a:spLocks noGrp="1"/>
          </p:cNvSpPr>
          <p:nvPr/>
        </p:nvSpPr>
        <p:spPr>
          <a:xfrm>
            <a:off x="9601200" y="2876550"/>
            <a:ext cx="1466850" cy="1314450"/>
          </a:xfrm>
          <a:prstGeom prst="rect">
            <a:avLst/>
          </a:prstGeom>
          <a:solidFill>
            <a:srgbClr val="DCFCE7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CCBDCA-C078-4BBE-827B-0DD60E396495}"/>
              </a:ext>
            </a:extLst>
          </p:cNvPr>
          <p:cNvSpPr>
            <a:spLocks noGrp="1"/>
          </p:cNvSpPr>
          <p:nvPr/>
        </p:nvSpPr>
        <p:spPr>
          <a:xfrm>
            <a:off x="9734550" y="3086100"/>
            <a:ext cx="1200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Server validation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3431FE-CCA1-414F-8086-AAA76FED73C3}"/>
              </a:ext>
            </a:extLst>
          </p:cNvPr>
          <p:cNvSpPr>
            <a:spLocks noGrp="1"/>
          </p:cNvSpPr>
          <p:nvPr/>
        </p:nvSpPr>
        <p:spPr>
          <a:xfrm>
            <a:off x="9734550" y="367665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dates, times, roles, files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F11D2-C45B-4B87-ACFC-6FB95F2F01A2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838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github.com/AI-development-bootcamp-2/time-watch, dev branch fetched as origin/dev (f5860cc).</a:t>
            </a:r>
          </a:p>
        </p:txBody>
      </p:sp>
    </p:spTree>
    <p:extLst>
      <p:ext uri="{BB962C8B-B14F-4D97-AF65-F5344CB8AC3E}">
        <p14:creationId xmlns:p14="http://schemas.microsoft.com/office/powerpoint/2010/main" val="1856736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ABFBB53-248D-466D-9FB0-DBA2666C2D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1B24CA4C-2227-4E65-90E8-1A50DAC8534C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2FA05-DAA4-4F0A-821B-B0BD47343C9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906000" cy="9525"/>
          </a:xfrm>
          <a:prstGeom prst="rect">
            <a:avLst/>
          </a:prstGeom>
          <a:solidFill>
            <a:srgbClr val="D9D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8CC2A-D6E1-471E-88D1-E7357B57A160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609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Time Watch / dev branch / security &amp; validation review</a:t>
            </a:r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3BF04D84-54BF-456A-BB98-04F513E0EACB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476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B257481A-ABD9-419A-B534-E0F8940AC948}"/>
              </a:ext>
            </a:extLst>
          </p:cNvPr>
          <p:cNvSpPr>
            <a:spLocks noGrp="1"/>
          </p:cNvSpPr>
          <p:nvPr/>
        </p:nvSpPr>
        <p:spPr>
          <a:xfrm>
            <a:off x="97155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SYSTEM 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C9B265-A251-4D6A-9E89-80A8ECC91E6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 small, layered stack keeps security controls close to the API boundary.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0440A8-A6F4-4210-8775-8F35D1AC8880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React handles Hebrew RTL workflows; Express centralizes authentication; PostgreSQL holds soft-deleted, constrained business records.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3A4109-6A39-45C8-8A40-106882A1C478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2000250" cy="1428750"/>
          </a:xfrm>
          <a:prstGeom prst="rect">
            <a:avLst/>
          </a:prstGeom>
          <a:solidFill>
            <a:srgbClr val="EAF0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692819-F4B4-4E26-93F4-9D4BA2BB86DF}"/>
              </a:ext>
            </a:extLst>
          </p:cNvPr>
          <p:cNvSpPr>
            <a:spLocks noGrp="1"/>
          </p:cNvSpPr>
          <p:nvPr/>
        </p:nvSpPr>
        <p:spPr>
          <a:xfrm>
            <a:off x="933450" y="287655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RTL frontend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A10CA9-76C9-4E0D-8C5D-4925A4D81B19}"/>
              </a:ext>
            </a:extLst>
          </p:cNvPr>
          <p:cNvSpPr>
            <a:spLocks noGrp="1"/>
          </p:cNvSpPr>
          <p:nvPr/>
        </p:nvSpPr>
        <p:spPr>
          <a:xfrm>
            <a:off x="933450" y="3295650"/>
            <a:ext cx="1657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Login, daily reporting, monthly calendar, admin panel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E42141-7FBE-4C51-BFF0-92CB18715297}"/>
              </a:ext>
            </a:extLst>
          </p:cNvPr>
          <p:cNvSpPr>
            <a:spLocks noGrp="1"/>
          </p:cNvSpPr>
          <p:nvPr/>
        </p:nvSpPr>
        <p:spPr>
          <a:xfrm>
            <a:off x="3429000" y="2667000"/>
            <a:ext cx="2000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E1D9AA-9082-4976-AAB2-8084B561D4ED}"/>
              </a:ext>
            </a:extLst>
          </p:cNvPr>
          <p:cNvSpPr>
            <a:spLocks noGrp="1"/>
          </p:cNvSpPr>
          <p:nvPr/>
        </p:nvSpPr>
        <p:spPr>
          <a:xfrm>
            <a:off x="3600450" y="287655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Express REST API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22E514-4A13-41BD-947C-E0485A35F922}"/>
              </a:ext>
            </a:extLst>
          </p:cNvPr>
          <p:cNvSpPr>
            <a:spLocks noGrp="1"/>
          </p:cNvSpPr>
          <p:nvPr/>
        </p:nvSpPr>
        <p:spPr>
          <a:xfrm>
            <a:off x="3600450" y="3295650"/>
            <a:ext cx="1657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Global auth middleware + route modules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52192C-0381-45A7-8D99-61DB6E61A147}"/>
              </a:ext>
            </a:extLst>
          </p:cNvPr>
          <p:cNvSpPr>
            <a:spLocks noGrp="1"/>
          </p:cNvSpPr>
          <p:nvPr/>
        </p:nvSpPr>
        <p:spPr>
          <a:xfrm>
            <a:off x="6096000" y="2667000"/>
            <a:ext cx="2000250" cy="1428750"/>
          </a:xfrm>
          <a:prstGeom prst="rect">
            <a:avLst/>
          </a:prstGeom>
          <a:solidFill>
            <a:srgbClr val="E4F4F0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E11DB4-DA93-4D55-AE6A-04102868E72B}"/>
              </a:ext>
            </a:extLst>
          </p:cNvPr>
          <p:cNvSpPr>
            <a:spLocks noGrp="1"/>
          </p:cNvSpPr>
          <p:nvPr/>
        </p:nvSpPr>
        <p:spPr>
          <a:xfrm>
            <a:off x="6267450" y="287655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0BCC32-8A7C-4767-8D7A-895DCED373E2}"/>
              </a:ext>
            </a:extLst>
          </p:cNvPr>
          <p:cNvSpPr>
            <a:spLocks noGrp="1"/>
          </p:cNvSpPr>
          <p:nvPr/>
        </p:nvSpPr>
        <p:spPr>
          <a:xfrm>
            <a:off x="6267450" y="3295650"/>
            <a:ext cx="1657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Users, task hierarchy, reports, absences, month locks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F6EAD5-BDF6-470F-AB7D-3FD1AD8F4B26}"/>
              </a:ext>
            </a:extLst>
          </p:cNvPr>
          <p:cNvSpPr>
            <a:spLocks noGrp="1"/>
          </p:cNvSpPr>
          <p:nvPr/>
        </p:nvSpPr>
        <p:spPr>
          <a:xfrm>
            <a:off x="8763000" y="2667000"/>
            <a:ext cx="2000250" cy="1428750"/>
          </a:xfrm>
          <a:prstGeom prst="rect">
            <a:avLst/>
          </a:prstGeom>
          <a:solidFill>
            <a:srgbClr val="FFF1D6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8D1A34-547F-4800-8BA0-ED7AE4C9FF56}"/>
              </a:ext>
            </a:extLst>
          </p:cNvPr>
          <p:cNvSpPr>
            <a:spLocks noGrp="1"/>
          </p:cNvSpPr>
          <p:nvPr/>
        </p:nvSpPr>
        <p:spPr>
          <a:xfrm>
            <a:off x="8934450" y="287655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CI/CD + Docker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A515DF-5DBB-4B35-B989-206DC443D3BE}"/>
              </a:ext>
            </a:extLst>
          </p:cNvPr>
          <p:cNvSpPr>
            <a:spLocks noGrp="1"/>
          </p:cNvSpPr>
          <p:nvPr/>
        </p:nvSpPr>
        <p:spPr>
          <a:xfrm>
            <a:off x="8934450" y="3295650"/>
            <a:ext cx="1657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Compose services, GitHub Actions, deployment workflows</a:t>
            </a:r>
          </a:p>
        </p:txBody>
      </p:sp>
      <p:sp>
        <p:nvSpPr>
          <p:cNvPr id="21" name="connector">
            <a:extLst>
              <a:ext uri="{FF2B5EF4-FFF2-40B4-BE49-F238E27FC236}">
                <a16:creationId xmlns:a16="http://schemas.microsoft.com/office/drawing/2014/main" id="{66CDF36F-E2F2-47FA-B3CB-C75BF0CDDDB5}"/>
              </a:ext>
            </a:extLst>
          </p:cNvPr>
          <p:cNvSpPr>
            <a:spLocks noGrp="1"/>
          </p:cNvSpPr>
          <p:nvPr/>
        </p:nvSpPr>
        <p:spPr>
          <a:xfrm>
            <a:off x="2781300" y="3381375"/>
            <a:ext cx="5524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arrow-head">
            <a:extLst>
              <a:ext uri="{FF2B5EF4-FFF2-40B4-BE49-F238E27FC236}">
                <a16:creationId xmlns:a16="http://schemas.microsoft.com/office/drawing/2014/main" id="{8F83C705-D5DB-4714-9527-315AD680001F}"/>
              </a:ext>
            </a:extLst>
          </p:cNvPr>
          <p:cNvSpPr>
            <a:spLocks noGrp="1"/>
          </p:cNvSpPr>
          <p:nvPr/>
        </p:nvSpPr>
        <p:spPr>
          <a:xfrm rot="5400000">
            <a:off x="3267075" y="3333750"/>
            <a:ext cx="95250" cy="95250"/>
          </a:xfrm>
          <a:prstGeom prst="triangl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connector">
            <a:extLst>
              <a:ext uri="{FF2B5EF4-FFF2-40B4-BE49-F238E27FC236}">
                <a16:creationId xmlns:a16="http://schemas.microsoft.com/office/drawing/2014/main" id="{294FFA07-3196-4815-877E-2C7F4FA360A5}"/>
              </a:ext>
            </a:extLst>
          </p:cNvPr>
          <p:cNvSpPr>
            <a:spLocks noGrp="1"/>
          </p:cNvSpPr>
          <p:nvPr/>
        </p:nvSpPr>
        <p:spPr>
          <a:xfrm>
            <a:off x="5448300" y="3381375"/>
            <a:ext cx="5524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arrow-head">
            <a:extLst>
              <a:ext uri="{FF2B5EF4-FFF2-40B4-BE49-F238E27FC236}">
                <a16:creationId xmlns:a16="http://schemas.microsoft.com/office/drawing/2014/main" id="{0D0836E7-D627-4250-9FDD-0067456CE299}"/>
              </a:ext>
            </a:extLst>
          </p:cNvPr>
          <p:cNvSpPr>
            <a:spLocks noGrp="1"/>
          </p:cNvSpPr>
          <p:nvPr/>
        </p:nvSpPr>
        <p:spPr>
          <a:xfrm rot="5400000">
            <a:off x="5934075" y="3333750"/>
            <a:ext cx="95250" cy="95250"/>
          </a:xfrm>
          <a:prstGeom prst="triangl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connector">
            <a:extLst>
              <a:ext uri="{FF2B5EF4-FFF2-40B4-BE49-F238E27FC236}">
                <a16:creationId xmlns:a16="http://schemas.microsoft.com/office/drawing/2014/main" id="{66FBF473-332D-4B48-B827-5D00D4AF07E5}"/>
              </a:ext>
            </a:extLst>
          </p:cNvPr>
          <p:cNvSpPr>
            <a:spLocks noGrp="1"/>
          </p:cNvSpPr>
          <p:nvPr/>
        </p:nvSpPr>
        <p:spPr>
          <a:xfrm>
            <a:off x="8115300" y="3381375"/>
            <a:ext cx="552450" cy="190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arrow-head">
            <a:extLst>
              <a:ext uri="{FF2B5EF4-FFF2-40B4-BE49-F238E27FC236}">
                <a16:creationId xmlns:a16="http://schemas.microsoft.com/office/drawing/2014/main" id="{0D798E96-E39E-43B9-8F20-571BE453273E}"/>
              </a:ext>
            </a:extLst>
          </p:cNvPr>
          <p:cNvSpPr>
            <a:spLocks noGrp="1"/>
          </p:cNvSpPr>
          <p:nvPr/>
        </p:nvSpPr>
        <p:spPr>
          <a:xfrm rot="5400000">
            <a:off x="8601075" y="3333750"/>
            <a:ext cx="95250" cy="95250"/>
          </a:xfrm>
          <a:prstGeom prst="triangl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AA720D-62B2-4F1C-B5A8-7D82B06B07C6}"/>
              </a:ext>
            </a:extLst>
          </p:cNvPr>
          <p:cNvSpPr>
            <a:spLocks noGrp="1"/>
          </p:cNvSpPr>
          <p:nvPr/>
        </p:nvSpPr>
        <p:spPr>
          <a:xfrm>
            <a:off x="1238250" y="46291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/api/auth login exempt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A3E95B-C7F9-4D93-9B3E-2C9179AE3D02}"/>
              </a:ext>
            </a:extLst>
          </p:cNvPr>
          <p:cNvSpPr>
            <a:spLocks noGrp="1"/>
          </p:cNvSpPr>
          <p:nvPr/>
        </p:nvSpPr>
        <p:spPr>
          <a:xfrm>
            <a:off x="3714750" y="46291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/api/* protected by authenticate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556E7E-C76B-4B8E-9F60-C660A8CF58D4}"/>
              </a:ext>
            </a:extLst>
          </p:cNvPr>
          <p:cNvSpPr>
            <a:spLocks noGrp="1"/>
          </p:cNvSpPr>
          <p:nvPr/>
        </p:nvSpPr>
        <p:spPr>
          <a:xfrm>
            <a:off x="6191250" y="46291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Admin routes add requireRole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73DE46-2003-4DE2-9828-26C7DA115452}"/>
              </a:ext>
            </a:extLst>
          </p:cNvPr>
          <p:cNvSpPr>
            <a:spLocks noGrp="1"/>
          </p:cNvSpPr>
          <p:nvPr/>
        </p:nvSpPr>
        <p:spPr>
          <a:xfrm>
            <a:off x="8667750" y="46291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803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5803D"/>
                </a:solidFill>
                <a:latin typeface="Aptos Mono"/>
                <a:ea typeface="Aptos Mono"/>
                <a:cs typeface="Aptos Mono"/>
              </a:rPr>
              <a:t>DB constraints + transactions</a:t>
            </a:r>
          </a:p>
        </p:txBody>
      </p:sp>
    </p:spTree>
    <p:extLst>
      <p:ext uri="{BB962C8B-B14F-4D97-AF65-F5344CB8AC3E}">
        <p14:creationId xmlns:p14="http://schemas.microsoft.com/office/powerpoint/2010/main" val="1592368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3995650-5759-48FD-A966-5064694319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30F84B4F-D60B-47CF-BD7A-05FA84929F91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03725F-266A-4ED5-A857-DC93B4FE503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906000" cy="9525"/>
          </a:xfrm>
          <a:prstGeom prst="rect">
            <a:avLst/>
          </a:prstGeom>
          <a:solidFill>
            <a:srgbClr val="D9D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131A97-93BD-4B9D-A2E4-DBCB7ADB7A88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609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Time Watch / dev branch / security &amp; validation review</a:t>
            </a:r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21439157-7539-4C70-847B-88394CA8976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4765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14AB8E22-BACD-4C9C-B96F-A1772AC51968}"/>
              </a:ext>
            </a:extLst>
          </p:cNvPr>
          <p:cNvSpPr>
            <a:spLocks noGrp="1"/>
          </p:cNvSpPr>
          <p:nvPr/>
        </p:nvSpPr>
        <p:spPr>
          <a:xfrm>
            <a:off x="97155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AUTHENTICATION 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A3F29E-E877-460D-9DA6-C8EE176F373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Login deliberately balances user experience with attack resistance.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B0E1CC-DDAA-4A5C-9331-AAE054BA96F9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code validates input first, normalizes timing, signs short-lived JWTs, and stores them in protected cookies.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4D64AF-395B-49DE-8254-90C2E5E64DEA}"/>
              </a:ext>
            </a:extLst>
          </p:cNvPr>
          <p:cNvSpPr>
            <a:spLocks noGrp="1"/>
          </p:cNvSpPr>
          <p:nvPr/>
        </p:nvSpPr>
        <p:spPr>
          <a:xfrm>
            <a:off x="762000" y="2705100"/>
            <a:ext cx="213360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60BC88-01A6-49AA-B8A4-CCE491CBBB7A}"/>
              </a:ext>
            </a:extLst>
          </p:cNvPr>
          <p:cNvSpPr>
            <a:spLocks noGrp="1"/>
          </p:cNvSpPr>
          <p:nvPr/>
        </p:nvSpPr>
        <p:spPr>
          <a:xfrm>
            <a:off x="933450" y="2876550"/>
            <a:ext cx="1790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Validate login body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8751A0-1B8C-4C81-83D0-0A3D29035466}"/>
              </a:ext>
            </a:extLst>
          </p:cNvPr>
          <p:cNvSpPr>
            <a:spLocks noGrp="1"/>
          </p:cNvSpPr>
          <p:nvPr/>
        </p:nvSpPr>
        <p:spPr>
          <a:xfrm>
            <a:off x="933450" y="3352800"/>
            <a:ext cx="1790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email format + password presence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5E2CD8-FB5D-4244-9402-181B978795A0}"/>
              </a:ext>
            </a:extLst>
          </p:cNvPr>
          <p:cNvSpPr>
            <a:spLocks noGrp="1"/>
          </p:cNvSpPr>
          <p:nvPr/>
        </p:nvSpPr>
        <p:spPr>
          <a:xfrm>
            <a:off x="933450" y="3924300"/>
            <a:ext cx="1790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utils/validate.js</a:t>
            </a:r>
          </a:p>
        </p:txBody>
      </p:sp>
      <p:sp>
        <p:nvSpPr>
          <p:cNvPr id="13" name="connector">
            <a:extLst>
              <a:ext uri="{FF2B5EF4-FFF2-40B4-BE49-F238E27FC236}">
                <a16:creationId xmlns:a16="http://schemas.microsoft.com/office/drawing/2014/main" id="{9F08AAEE-3C85-4AA2-B2A7-65F716A073F0}"/>
              </a:ext>
            </a:extLst>
          </p:cNvPr>
          <p:cNvSpPr>
            <a:spLocks noGrp="1"/>
          </p:cNvSpPr>
          <p:nvPr/>
        </p:nvSpPr>
        <p:spPr>
          <a:xfrm>
            <a:off x="2952750" y="3524250"/>
            <a:ext cx="3810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arrow-head">
            <a:extLst>
              <a:ext uri="{FF2B5EF4-FFF2-40B4-BE49-F238E27FC236}">
                <a16:creationId xmlns:a16="http://schemas.microsoft.com/office/drawing/2014/main" id="{815D90B6-523B-4E8F-A5D5-1B8E3C5B1B6C}"/>
              </a:ext>
            </a:extLst>
          </p:cNvPr>
          <p:cNvSpPr>
            <a:spLocks noGrp="1"/>
          </p:cNvSpPr>
          <p:nvPr/>
        </p:nvSpPr>
        <p:spPr>
          <a:xfrm rot="5400000">
            <a:off x="3267075" y="3476625"/>
            <a:ext cx="95250" cy="95250"/>
          </a:xfrm>
          <a:prstGeom prst="triangl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0C2EF6-3D39-4566-B2BB-FBFB4D87009F}"/>
              </a:ext>
            </a:extLst>
          </p:cNvPr>
          <p:cNvSpPr>
            <a:spLocks noGrp="1"/>
          </p:cNvSpPr>
          <p:nvPr/>
        </p:nvSpPr>
        <p:spPr>
          <a:xfrm>
            <a:off x="3409950" y="2705100"/>
            <a:ext cx="2133600" cy="1638300"/>
          </a:xfrm>
          <a:prstGeom prst="rect">
            <a:avLst/>
          </a:prstGeom>
          <a:solidFill>
            <a:srgbClr val="E4F4F0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98A288-AB2E-413F-99DA-526D27737C6F}"/>
              </a:ext>
            </a:extLst>
          </p:cNvPr>
          <p:cNvSpPr>
            <a:spLocks noGrp="1"/>
          </p:cNvSpPr>
          <p:nvPr/>
        </p:nvSpPr>
        <p:spPr>
          <a:xfrm>
            <a:off x="3581400" y="2876550"/>
            <a:ext cx="1790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Constant-time bcrypt path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60E9B5-006F-44B6-B971-D47B33841F7A}"/>
              </a:ext>
            </a:extLst>
          </p:cNvPr>
          <p:cNvSpPr>
            <a:spLocks noGrp="1"/>
          </p:cNvSpPr>
          <p:nvPr/>
        </p:nvSpPr>
        <p:spPr>
          <a:xfrm>
            <a:off x="3581400" y="3352800"/>
            <a:ext cx="1790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real hash or dummy hash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310F27-20CD-43F3-A038-09ECA4DC2F52}"/>
              </a:ext>
            </a:extLst>
          </p:cNvPr>
          <p:cNvSpPr>
            <a:spLocks noGrp="1"/>
          </p:cNvSpPr>
          <p:nvPr/>
        </p:nvSpPr>
        <p:spPr>
          <a:xfrm>
            <a:off x="3581400" y="3924300"/>
            <a:ext cx="1790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authService.js</a:t>
            </a:r>
          </a:p>
        </p:txBody>
      </p:sp>
      <p:sp>
        <p:nvSpPr>
          <p:cNvPr id="19" name="connector">
            <a:extLst>
              <a:ext uri="{FF2B5EF4-FFF2-40B4-BE49-F238E27FC236}">
                <a16:creationId xmlns:a16="http://schemas.microsoft.com/office/drawing/2014/main" id="{602833B3-FBD9-4F66-8748-83DCECE7A429}"/>
              </a:ext>
            </a:extLst>
          </p:cNvPr>
          <p:cNvSpPr>
            <a:spLocks noGrp="1"/>
          </p:cNvSpPr>
          <p:nvPr/>
        </p:nvSpPr>
        <p:spPr>
          <a:xfrm>
            <a:off x="5600700" y="3524250"/>
            <a:ext cx="3810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arrow-head">
            <a:extLst>
              <a:ext uri="{FF2B5EF4-FFF2-40B4-BE49-F238E27FC236}">
                <a16:creationId xmlns:a16="http://schemas.microsoft.com/office/drawing/2014/main" id="{CBE9CC33-A95E-433B-A8B6-C4918F8A22F2}"/>
              </a:ext>
            </a:extLst>
          </p:cNvPr>
          <p:cNvSpPr>
            <a:spLocks noGrp="1"/>
          </p:cNvSpPr>
          <p:nvPr/>
        </p:nvSpPr>
        <p:spPr>
          <a:xfrm rot="5400000">
            <a:off x="5915025" y="3476625"/>
            <a:ext cx="95250" cy="95250"/>
          </a:xfrm>
          <a:prstGeom prst="triangl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47D311-4BAA-4FFB-B2EA-C15C61BA2037}"/>
              </a:ext>
            </a:extLst>
          </p:cNvPr>
          <p:cNvSpPr>
            <a:spLocks noGrp="1"/>
          </p:cNvSpPr>
          <p:nvPr/>
        </p:nvSpPr>
        <p:spPr>
          <a:xfrm>
            <a:off x="6057900" y="2705100"/>
            <a:ext cx="213360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AB735D-C017-4ACE-A096-B6E1455C6367}"/>
              </a:ext>
            </a:extLst>
          </p:cNvPr>
          <p:cNvSpPr>
            <a:spLocks noGrp="1"/>
          </p:cNvSpPr>
          <p:nvPr/>
        </p:nvSpPr>
        <p:spPr>
          <a:xfrm>
            <a:off x="6229350" y="2876550"/>
            <a:ext cx="1790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Lockout + active check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DDBBF1-24BF-491D-A3B4-390B8BAE99E8}"/>
              </a:ext>
            </a:extLst>
          </p:cNvPr>
          <p:cNvSpPr>
            <a:spLocks noGrp="1"/>
          </p:cNvSpPr>
          <p:nvPr/>
        </p:nvSpPr>
        <p:spPr>
          <a:xfrm>
            <a:off x="6229350" y="3352800"/>
            <a:ext cx="1790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3 failures -&gt; 15 minute lock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06052A-D00E-4436-89F9-03B15AD4D87C}"/>
              </a:ext>
            </a:extLst>
          </p:cNvPr>
          <p:cNvSpPr>
            <a:spLocks noGrp="1"/>
          </p:cNvSpPr>
          <p:nvPr/>
        </p:nvSpPr>
        <p:spPr>
          <a:xfrm>
            <a:off x="6229350" y="3924300"/>
            <a:ext cx="1790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usersRepository.js</a:t>
            </a:r>
          </a:p>
        </p:txBody>
      </p:sp>
      <p:sp>
        <p:nvSpPr>
          <p:cNvPr id="25" name="connector">
            <a:extLst>
              <a:ext uri="{FF2B5EF4-FFF2-40B4-BE49-F238E27FC236}">
                <a16:creationId xmlns:a16="http://schemas.microsoft.com/office/drawing/2014/main" id="{7C0E6B44-28D0-49C7-B1D7-28C10EB25FDC}"/>
              </a:ext>
            </a:extLst>
          </p:cNvPr>
          <p:cNvSpPr>
            <a:spLocks noGrp="1"/>
          </p:cNvSpPr>
          <p:nvPr/>
        </p:nvSpPr>
        <p:spPr>
          <a:xfrm>
            <a:off x="8248650" y="3524250"/>
            <a:ext cx="3810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arrow-head">
            <a:extLst>
              <a:ext uri="{FF2B5EF4-FFF2-40B4-BE49-F238E27FC236}">
                <a16:creationId xmlns:a16="http://schemas.microsoft.com/office/drawing/2014/main" id="{684B3C55-7026-42D6-9F91-E98792548B84}"/>
              </a:ext>
            </a:extLst>
          </p:cNvPr>
          <p:cNvSpPr>
            <a:spLocks noGrp="1"/>
          </p:cNvSpPr>
          <p:nvPr/>
        </p:nvSpPr>
        <p:spPr>
          <a:xfrm rot="5400000">
            <a:off x="8562975" y="3476625"/>
            <a:ext cx="95250" cy="95250"/>
          </a:xfrm>
          <a:prstGeom prst="triangl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13F9B4-F501-4013-9C2A-BF68BB9F85FF}"/>
              </a:ext>
            </a:extLst>
          </p:cNvPr>
          <p:cNvSpPr>
            <a:spLocks noGrp="1"/>
          </p:cNvSpPr>
          <p:nvPr/>
        </p:nvSpPr>
        <p:spPr>
          <a:xfrm>
            <a:off x="8705850" y="2705100"/>
            <a:ext cx="2133600" cy="1638300"/>
          </a:xfrm>
          <a:prstGeom prst="rect">
            <a:avLst/>
          </a:prstGeom>
          <a:solidFill>
            <a:srgbClr val="E4F4F0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941079-A70D-43CD-B449-E4EC140C2013}"/>
              </a:ext>
            </a:extLst>
          </p:cNvPr>
          <p:cNvSpPr>
            <a:spLocks noGrp="1"/>
          </p:cNvSpPr>
          <p:nvPr/>
        </p:nvSpPr>
        <p:spPr>
          <a:xfrm>
            <a:off x="8877300" y="2876550"/>
            <a:ext cx="1790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 Issue session cookie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1CE55B-9A57-471D-8B91-14BA22094050}"/>
              </a:ext>
            </a:extLst>
          </p:cNvPr>
          <p:cNvSpPr>
            <a:spLocks noGrp="1"/>
          </p:cNvSpPr>
          <p:nvPr/>
        </p:nvSpPr>
        <p:spPr>
          <a:xfrm>
            <a:off x="8877300" y="3352800"/>
            <a:ext cx="1790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JWT, HttpOnly, SameSite=strict, Secure in production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E611CC-C945-4728-994F-BB6E5EC37E8C}"/>
              </a:ext>
            </a:extLst>
          </p:cNvPr>
          <p:cNvSpPr>
            <a:spLocks noGrp="1"/>
          </p:cNvSpPr>
          <p:nvPr/>
        </p:nvSpPr>
        <p:spPr>
          <a:xfrm>
            <a:off x="8877300" y="3924300"/>
            <a:ext cx="1790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authController.js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2F3F86-13C6-4872-927D-6AEE4CF5DC3C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9982200" cy="514350"/>
          </a:xfrm>
          <a:prstGeom prst="rect">
            <a:avLst/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2293CA-FB72-4900-8B42-2D150F7E59E7}"/>
              </a:ext>
            </a:extLst>
          </p:cNvPr>
          <p:cNvSpPr>
            <a:spLocks noGrp="1"/>
          </p:cNvSpPr>
          <p:nvPr/>
        </p:nvSpPr>
        <p:spPr>
          <a:xfrm>
            <a:off x="1104900" y="4895850"/>
            <a:ext cx="9582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 nuance: only /me and /change-password re-check active user state against the DB; other protected calls trust the 8-hour JWT to avoid a DB lookup on every request.</a:t>
            </a:r>
          </a:p>
        </p:txBody>
      </p:sp>
    </p:spTree>
    <p:extLst>
      <p:ext uri="{BB962C8B-B14F-4D97-AF65-F5344CB8AC3E}">
        <p14:creationId xmlns:p14="http://schemas.microsoft.com/office/powerpoint/2010/main" val="554778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69A9E53-7603-4777-BB68-0FEE0F4686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2034D897-B903-4C19-86B5-50128CF877E8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CD4007-1C07-4C44-BAD1-AED3BE77A3F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906000" cy="9525"/>
          </a:xfrm>
          <a:prstGeom prst="rect">
            <a:avLst/>
          </a:prstGeom>
          <a:solidFill>
            <a:srgbClr val="D9D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06A98-EACD-435E-8900-52263E0CC017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609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Time Watch / dev branch / security &amp; validation review</a:t>
            </a:r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3EAC202A-38C5-4EDC-8DA9-81365B414D4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47650" cy="2857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AF5E70AC-D4C9-47EE-8893-E38E86B7D861}"/>
              </a:ext>
            </a:extLst>
          </p:cNvPr>
          <p:cNvSpPr>
            <a:spLocks noGrp="1"/>
          </p:cNvSpPr>
          <p:nvPr/>
        </p:nvSpPr>
        <p:spPr>
          <a:xfrm>
            <a:off x="97155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AUTHORIZATION BOUNDARY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6C5EFF-5ED8-4876-9B3B-62E1BBD8E73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Admin-only capabilities sit behind explicit role gates.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BADFC0-2C86-4664-8EF7-A17E8C978DA4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app uses a global authentication pass, then route-level RBAC for user and admin management surfaces.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184509-6359-4707-B176-0C368297C45F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3143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672855-1520-429D-9C9B-008C804C82C6}"/>
              </a:ext>
            </a:extLst>
          </p:cNvPr>
          <p:cNvSpPr>
            <a:spLocks noGrp="1"/>
          </p:cNvSpPr>
          <p:nvPr/>
        </p:nvSpPr>
        <p:spPr>
          <a:xfrm>
            <a:off x="1181100" y="27813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Employee surface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3B8432-9992-4FF2-80A2-4A04736DA2CA}"/>
              </a:ext>
            </a:extLst>
          </p:cNvPr>
          <p:cNvSpPr>
            <a:spLocks noGrp="1"/>
          </p:cNvSpPr>
          <p:nvPr/>
        </p:nvSpPr>
        <p:spPr>
          <a:xfrm>
            <a:off x="1200150" y="327660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- daily report create/list/update own rows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7F35CE-F320-45D0-AE8D-4815503B9140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- absence CRUD for owner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58666B-3A70-4118-A295-9EB2AFE7FCFC}"/>
              </a:ext>
            </a:extLst>
          </p:cNvPr>
          <p:cNvSpPr>
            <a:spLocks noGrp="1"/>
          </p:cNvSpPr>
          <p:nvPr/>
        </p:nvSpPr>
        <p:spPr>
          <a:xfrm>
            <a:off x="1200150" y="400050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- monthly view of own history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5F6D63-7B6B-4E3C-A529-09762E73F6C7}"/>
              </a:ext>
            </a:extLst>
          </p:cNvPr>
          <p:cNvSpPr>
            <a:spLocks noGrp="1"/>
          </p:cNvSpPr>
          <p:nvPr/>
        </p:nvSpPr>
        <p:spPr>
          <a:xfrm>
            <a:off x="4552950" y="2190750"/>
            <a:ext cx="3143250" cy="2952750"/>
          </a:xfrm>
          <a:prstGeom prst="rect">
            <a:avLst/>
          </a:prstGeom>
          <a:solidFill>
            <a:srgbClr val="FFF1D6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C530F0-5854-46F6-A10C-B41C7040F7A7}"/>
              </a:ext>
            </a:extLst>
          </p:cNvPr>
          <p:cNvSpPr>
            <a:spLocks noGrp="1"/>
          </p:cNvSpPr>
          <p:nvPr/>
        </p:nvSpPr>
        <p:spPr>
          <a:xfrm>
            <a:off x="4838700" y="24955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 surface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6B8997-D8EB-4F64-BA3E-9357F362DF0B}"/>
              </a:ext>
            </a:extLst>
          </p:cNvPr>
          <p:cNvSpPr>
            <a:spLocks noGrp="1"/>
          </p:cNvSpPr>
          <p:nvPr/>
        </p:nvSpPr>
        <p:spPr>
          <a:xfrm>
            <a:off x="4857750" y="2990850"/>
            <a:ext cx="2400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- users create/update/deactivate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4426EE-EE91-4495-BF1C-A54E85155CC5}"/>
              </a:ext>
            </a:extLst>
          </p:cNvPr>
          <p:cNvSpPr>
            <a:spLocks noGrp="1"/>
          </p:cNvSpPr>
          <p:nvPr/>
        </p:nvSpPr>
        <p:spPr>
          <a:xfrm>
            <a:off x="4857750" y="3352800"/>
            <a:ext cx="2400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- clients/projects/tasks management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A6CFEC-09FD-4C05-A2F6-02AABC43C595}"/>
              </a:ext>
            </a:extLst>
          </p:cNvPr>
          <p:cNvSpPr>
            <a:spLocks noGrp="1"/>
          </p:cNvSpPr>
          <p:nvPr/>
        </p:nvSpPr>
        <p:spPr>
          <a:xfrm>
            <a:off x="4857750" y="3714750"/>
            <a:ext cx="2400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- admin report editing and month locking routes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12A2B5-6EB5-444B-8BB2-F72C1709E710}"/>
              </a:ext>
            </a:extLst>
          </p:cNvPr>
          <p:cNvSpPr>
            <a:spLocks noGrp="1"/>
          </p:cNvSpPr>
          <p:nvPr/>
        </p:nvSpPr>
        <p:spPr>
          <a:xfrm>
            <a:off x="4857750" y="4076700"/>
            <a:ext cx="2400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- cannot deactivate last active admin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9D1190-7280-4893-B400-D91A89C19CF3}"/>
              </a:ext>
            </a:extLst>
          </p:cNvPr>
          <p:cNvSpPr>
            <a:spLocks noGrp="1"/>
          </p:cNvSpPr>
          <p:nvPr/>
        </p:nvSpPr>
        <p:spPr>
          <a:xfrm>
            <a:off x="8191500" y="2476500"/>
            <a:ext cx="2571750" cy="2381250"/>
          </a:xfrm>
          <a:prstGeom prst="rect">
            <a:avLst/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6BB58A-D017-4663-93EA-F2E805FE983F}"/>
              </a:ext>
            </a:extLst>
          </p:cNvPr>
          <p:cNvSpPr>
            <a:spLocks noGrp="1"/>
          </p:cNvSpPr>
          <p:nvPr/>
        </p:nvSpPr>
        <p:spPr>
          <a:xfrm>
            <a:off x="8477250" y="27813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DE68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DE68A"/>
                </a:solidFill>
                <a:latin typeface="Aptos Mono"/>
                <a:ea typeface="Aptos Mono"/>
                <a:cs typeface="Aptos Mono"/>
              </a:rPr>
              <a:t>Guard pattern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4DD79B-09B5-4CA0-889C-50E13F550F18}"/>
              </a:ext>
            </a:extLst>
          </p:cNvPr>
          <p:cNvSpPr>
            <a:spLocks noGrp="1"/>
          </p:cNvSpPr>
          <p:nvPr/>
        </p:nvSpPr>
        <p:spPr>
          <a:xfrm>
            <a:off x="8477250" y="3181350"/>
            <a:ext cx="18669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authenticate(req) attaches req.user from a verified JWT; requireRole(admin) rejects non-admin callers with 403.</a:t>
            </a:r>
          </a:p>
        </p:txBody>
      </p:sp>
    </p:spTree>
    <p:extLst>
      <p:ext uri="{BB962C8B-B14F-4D97-AF65-F5344CB8AC3E}">
        <p14:creationId xmlns:p14="http://schemas.microsoft.com/office/powerpoint/2010/main" val="621747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A4E96E27-1612-44E7-AFAC-87229EE539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CC395466-6679-4221-A4BF-BC383FE0E557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7011A0-30A1-408F-8ACB-0D7F88B2FD2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906000" cy="9525"/>
          </a:xfrm>
          <a:prstGeom prst="rect">
            <a:avLst/>
          </a:prstGeom>
          <a:solidFill>
            <a:srgbClr val="D9D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466A20-3EEB-491D-B791-F8616C67BF78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609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Time Watch / dev branch / security &amp; validation review</a:t>
            </a:r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FBC27007-92EF-45CE-88A6-8008DF6CA69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476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171DEEA5-0AEA-4F59-BAF4-626A6BF98CC4}"/>
              </a:ext>
            </a:extLst>
          </p:cNvPr>
          <p:cNvSpPr>
            <a:spLocks noGrp="1"/>
          </p:cNvSpPr>
          <p:nvPr/>
        </p:nvSpPr>
        <p:spPr>
          <a:xfrm>
            <a:off x="97155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VALIDATION MATRIX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B49C2F-D9C5-4D67-B4E4-0F57ACFE7A2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Validation happens in layers, not only in the React form.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AA39A2-B055-45D0-AC94-22924E098ADD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Server checks cover identity, shape, business rules, upload safety, and database integrity.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CE5694-FB51-4CA4-87E6-A144D82D7913}"/>
              </a:ext>
            </a:extLst>
          </p:cNvPr>
          <p:cNvSpPr>
            <a:spLocks noGrp="1"/>
          </p:cNvSpPr>
          <p:nvPr/>
        </p:nvSpPr>
        <p:spPr>
          <a:xfrm>
            <a:off x="762000" y="2438400"/>
            <a:ext cx="1619250" cy="400050"/>
          </a:xfrm>
          <a:prstGeom prst="rect">
            <a:avLst/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7E38C1-24AE-4EA2-B8D5-F87B3312CE41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User/Auth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BEE7D1-BBA4-4A10-95D6-C87454B7AB4A}"/>
              </a:ext>
            </a:extLst>
          </p:cNvPr>
          <p:cNvSpPr>
            <a:spLocks noGrp="1"/>
          </p:cNvSpPr>
          <p:nvPr/>
        </p:nvSpPr>
        <p:spPr>
          <a:xfrm>
            <a:off x="2647950" y="2438400"/>
            <a:ext cx="1619250" cy="400050"/>
          </a:xfrm>
          <a:prstGeom prst="rect">
            <a:avLst/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87D30C-4340-48E8-B2E9-DCA1A11CD655}"/>
              </a:ext>
            </a:extLst>
          </p:cNvPr>
          <p:cNvSpPr>
            <a:spLocks noGrp="1"/>
          </p:cNvSpPr>
          <p:nvPr/>
        </p:nvSpPr>
        <p:spPr>
          <a:xfrm>
            <a:off x="2762250" y="255270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D9DDD0-3812-45AF-86B6-EECD6ED0053A}"/>
              </a:ext>
            </a:extLst>
          </p:cNvPr>
          <p:cNvSpPr>
            <a:spLocks noGrp="1"/>
          </p:cNvSpPr>
          <p:nvPr/>
        </p:nvSpPr>
        <p:spPr>
          <a:xfrm>
            <a:off x="4533900" y="2438400"/>
            <a:ext cx="1619250" cy="400050"/>
          </a:xfrm>
          <a:prstGeom prst="rect">
            <a:avLst/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0E9661-4331-4E41-807E-205D1A2107E0}"/>
              </a:ext>
            </a:extLst>
          </p:cNvPr>
          <p:cNvSpPr>
            <a:spLocks noGrp="1"/>
          </p:cNvSpPr>
          <p:nvPr/>
        </p:nvSpPr>
        <p:spPr>
          <a:xfrm>
            <a:off x="4648200" y="255270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Absences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90C790-C940-4BC1-B527-5641532066B9}"/>
              </a:ext>
            </a:extLst>
          </p:cNvPr>
          <p:cNvSpPr>
            <a:spLocks noGrp="1"/>
          </p:cNvSpPr>
          <p:nvPr/>
        </p:nvSpPr>
        <p:spPr>
          <a:xfrm>
            <a:off x="6419850" y="2438400"/>
            <a:ext cx="1619250" cy="400050"/>
          </a:xfrm>
          <a:prstGeom prst="rect">
            <a:avLst/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5376F2-3DD8-49E5-964A-B3946295C302}"/>
              </a:ext>
            </a:extLst>
          </p:cNvPr>
          <p:cNvSpPr>
            <a:spLocks noGrp="1"/>
          </p:cNvSpPr>
          <p:nvPr/>
        </p:nvSpPr>
        <p:spPr>
          <a:xfrm>
            <a:off x="6534150" y="255270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Uploads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A89B39-5601-4221-8AF0-313E8512DD01}"/>
              </a:ext>
            </a:extLst>
          </p:cNvPr>
          <p:cNvSpPr>
            <a:spLocks noGrp="1"/>
          </p:cNvSpPr>
          <p:nvPr/>
        </p:nvSpPr>
        <p:spPr>
          <a:xfrm>
            <a:off x="8305800" y="2438400"/>
            <a:ext cx="1619250" cy="400050"/>
          </a:xfrm>
          <a:prstGeom prst="rect">
            <a:avLst/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C64FCD-A519-4D0C-B900-838F381E4F86}"/>
              </a:ext>
            </a:extLst>
          </p:cNvPr>
          <p:cNvSpPr>
            <a:spLocks noGrp="1"/>
          </p:cNvSpPr>
          <p:nvPr/>
        </p:nvSpPr>
        <p:spPr>
          <a:xfrm>
            <a:off x="8420100" y="255270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413F31-1C66-4099-B8B0-7E0D3D5A69C6}"/>
              </a:ext>
            </a:extLst>
          </p:cNvPr>
          <p:cNvSpPr>
            <a:spLocks noGrp="1"/>
          </p:cNvSpPr>
          <p:nvPr/>
        </p:nvSpPr>
        <p:spPr>
          <a:xfrm>
            <a:off x="762000" y="2952750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588D68-D88A-4CB3-8E30-F374B4FE2467}"/>
              </a:ext>
            </a:extLst>
          </p:cNvPr>
          <p:cNvSpPr>
            <a:spLocks noGrp="1"/>
          </p:cNvSpPr>
          <p:nvPr/>
        </p:nvSpPr>
        <p:spPr>
          <a:xfrm>
            <a:off x="895350" y="310515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email format</a:t>
            </a:r>
          </a:p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role enum</a:t>
            </a:r>
          </a:p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password complexity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CDD0AD-9553-44A4-812B-844C0117B450}"/>
              </a:ext>
            </a:extLst>
          </p:cNvPr>
          <p:cNvSpPr>
            <a:spLocks noGrp="1"/>
          </p:cNvSpPr>
          <p:nvPr/>
        </p:nvSpPr>
        <p:spPr>
          <a:xfrm>
            <a:off x="2647950" y="2952750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5D6A9F-EBE4-4FCA-AB1F-EF514E1EDF42}"/>
              </a:ext>
            </a:extLst>
          </p:cNvPr>
          <p:cNvSpPr>
            <a:spLocks noGrp="1"/>
          </p:cNvSpPr>
          <p:nvPr/>
        </p:nvSpPr>
        <p:spPr>
          <a:xfrm>
            <a:off x="2781300" y="310515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YYYY-MM-DD</a:t>
            </a:r>
          </a:p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HH:MM time</a:t>
            </a:r>
          </a:p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end &gt; start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51E2DB-225C-4BBA-9894-FADD93103F9A}"/>
              </a:ext>
            </a:extLst>
          </p:cNvPr>
          <p:cNvSpPr>
            <a:spLocks noGrp="1"/>
          </p:cNvSpPr>
          <p:nvPr/>
        </p:nvSpPr>
        <p:spPr>
          <a:xfrm>
            <a:off x="4533900" y="2952750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D50F9A-D65D-450C-89B1-9263C12D26B3}"/>
              </a:ext>
            </a:extLst>
          </p:cNvPr>
          <p:cNvSpPr>
            <a:spLocks noGrp="1"/>
          </p:cNvSpPr>
          <p:nvPr/>
        </p:nvSpPr>
        <p:spPr>
          <a:xfrm>
            <a:off x="4667250" y="310515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type enum</a:t>
            </a:r>
          </a:p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working days</a:t>
            </a:r>
          </a:p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future-date policy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D5A513-AF77-43EA-B0C4-DB34E7489692}"/>
              </a:ext>
            </a:extLst>
          </p:cNvPr>
          <p:cNvSpPr>
            <a:spLocks noGrp="1"/>
          </p:cNvSpPr>
          <p:nvPr/>
        </p:nvSpPr>
        <p:spPr>
          <a:xfrm>
            <a:off x="6419850" y="2952750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FBCA83-6FFD-44E2-8483-572DEA8F0B4B}"/>
              </a:ext>
            </a:extLst>
          </p:cNvPr>
          <p:cNvSpPr>
            <a:spLocks noGrp="1"/>
          </p:cNvSpPr>
          <p:nvPr/>
        </p:nvSpPr>
        <p:spPr>
          <a:xfrm>
            <a:off x="6553200" y="310515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PDF/JPEG/PNG</a:t>
            </a:r>
          </a:p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20 MB cap</a:t>
            </a:r>
          </a:p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memory storage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233D2E-DE74-4C42-B4E0-FB5617B4F99A}"/>
              </a:ext>
            </a:extLst>
          </p:cNvPr>
          <p:cNvSpPr>
            <a:spLocks noGrp="1"/>
          </p:cNvSpPr>
          <p:nvPr/>
        </p:nvSpPr>
        <p:spPr>
          <a:xfrm>
            <a:off x="8305800" y="2952750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E2A89B-740A-441D-B72C-6E2F63FC4906}"/>
              </a:ext>
            </a:extLst>
          </p:cNvPr>
          <p:cNvSpPr>
            <a:spLocks noGrp="1"/>
          </p:cNvSpPr>
          <p:nvPr/>
        </p:nvSpPr>
        <p:spPr>
          <a:xfrm>
            <a:off x="8439150" y="310515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unique indexes</a:t>
            </a:r>
          </a:p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FK restrict</a:t>
            </a:r>
          </a:p>
          <a:p>
            <a:pPr algn="ctr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check constraints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4993EB-CAB1-41F6-A2AA-CEEA537461E6}"/>
              </a:ext>
            </a:extLst>
          </p:cNvPr>
          <p:cNvSpPr>
            <a:spLocks noGrp="1"/>
          </p:cNvSpPr>
          <p:nvPr/>
        </p:nvSpPr>
        <p:spPr>
          <a:xfrm>
            <a:off x="762000" y="4019550"/>
            <a:ext cx="1619250" cy="857250"/>
          </a:xfrm>
          <a:prstGeom prst="rect">
            <a:avLst/>
          </a:prstGeom>
          <a:solidFill>
            <a:srgbClr val="DCFCE7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85047C-6E5C-47F7-82D1-1933A44CFFEA}"/>
              </a:ext>
            </a:extLst>
          </p:cNvPr>
          <p:cNvSpPr>
            <a:spLocks noGrp="1"/>
          </p:cNvSpPr>
          <p:nvPr/>
        </p:nvSpPr>
        <p:spPr>
          <a:xfrm>
            <a:off x="895350" y="417195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803D"/>
                </a:solidFill>
                <a:latin typeface="Aptos"/>
                <a:ea typeface="Aptos"/>
                <a:cs typeface="Aptos"/>
              </a:rPr>
              <a:t>400/422 errors</a:t>
            </a:r>
          </a:p>
          <a:p>
            <a:pPr algn="ctr">
              <a:defRPr sz="1050" b="0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803D"/>
                </a:solidFill>
                <a:latin typeface="Aptos"/>
                <a:ea typeface="Aptos"/>
                <a:cs typeface="Aptos"/>
              </a:rPr>
              <a:t>409 email conflict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7A6D92-07DF-4C82-AB52-BE1A7289F8A2}"/>
              </a:ext>
            </a:extLst>
          </p:cNvPr>
          <p:cNvSpPr>
            <a:spLocks noGrp="1"/>
          </p:cNvSpPr>
          <p:nvPr/>
        </p:nvSpPr>
        <p:spPr>
          <a:xfrm>
            <a:off x="2647950" y="4019550"/>
            <a:ext cx="1619250" cy="857250"/>
          </a:xfrm>
          <a:prstGeom prst="rect">
            <a:avLst/>
          </a:prstGeom>
          <a:solidFill>
            <a:srgbClr val="DCFCE7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B648A90-41BE-40F3-ACA1-22DFE8A9F1E7}"/>
              </a:ext>
            </a:extLst>
          </p:cNvPr>
          <p:cNvSpPr>
            <a:spLocks noGrp="1"/>
          </p:cNvSpPr>
          <p:nvPr/>
        </p:nvSpPr>
        <p:spPr>
          <a:xfrm>
            <a:off x="2781300" y="417195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803D"/>
                </a:solidFill>
                <a:latin typeface="Aptos"/>
                <a:ea typeface="Aptos"/>
                <a:cs typeface="Aptos"/>
              </a:rPr>
              <a:t>423 month lock</a:t>
            </a:r>
          </a:p>
          <a:p>
            <a:pPr algn="ctr">
              <a:defRPr sz="1050" b="0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803D"/>
                </a:solidFill>
                <a:latin typeface="Aptos"/>
                <a:ea typeface="Aptos"/>
                <a:cs typeface="Aptos"/>
              </a:rPr>
              <a:t>24h daily cap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478DA2-CC45-41F4-9804-074A5330D93D}"/>
              </a:ext>
            </a:extLst>
          </p:cNvPr>
          <p:cNvSpPr>
            <a:spLocks noGrp="1"/>
          </p:cNvSpPr>
          <p:nvPr/>
        </p:nvSpPr>
        <p:spPr>
          <a:xfrm>
            <a:off x="4533900" y="4019550"/>
            <a:ext cx="1619250" cy="857250"/>
          </a:xfrm>
          <a:prstGeom prst="rect">
            <a:avLst/>
          </a:prstGeom>
          <a:solidFill>
            <a:srgbClr val="DCFCE7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B7B17B-DD4E-450F-B86D-DC0F641F5620}"/>
              </a:ext>
            </a:extLst>
          </p:cNvPr>
          <p:cNvSpPr>
            <a:spLocks noGrp="1"/>
          </p:cNvSpPr>
          <p:nvPr/>
        </p:nvSpPr>
        <p:spPr>
          <a:xfrm>
            <a:off x="4667250" y="417195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803D"/>
                </a:solidFill>
                <a:latin typeface="Aptos"/>
                <a:ea typeface="Aptos"/>
                <a:cs typeface="Aptos"/>
              </a:rPr>
              <a:t>partial &lt; 9h</a:t>
            </a:r>
          </a:p>
          <a:p>
            <a:pPr algn="ctr">
              <a:defRPr sz="1050" b="0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803D"/>
                </a:solidFill>
                <a:latin typeface="Aptos"/>
                <a:ea typeface="Aptos"/>
                <a:cs typeface="Aptos"/>
              </a:rPr>
              <a:t>month clipping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6F88D53-489E-4482-835F-312BE510ED97}"/>
              </a:ext>
            </a:extLst>
          </p:cNvPr>
          <p:cNvSpPr>
            <a:spLocks noGrp="1"/>
          </p:cNvSpPr>
          <p:nvPr/>
        </p:nvSpPr>
        <p:spPr>
          <a:xfrm>
            <a:off x="6419850" y="4019550"/>
            <a:ext cx="1619250" cy="857250"/>
          </a:xfrm>
          <a:prstGeom prst="rect">
            <a:avLst/>
          </a:prstGeom>
          <a:solidFill>
            <a:srgbClr val="DCFCE7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0AB45E-C5B1-4E30-85A8-CC3D2FE97DEF}"/>
              </a:ext>
            </a:extLst>
          </p:cNvPr>
          <p:cNvSpPr>
            <a:spLocks noGrp="1"/>
          </p:cNvSpPr>
          <p:nvPr/>
        </p:nvSpPr>
        <p:spPr>
          <a:xfrm>
            <a:off x="6553200" y="417195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803D"/>
                </a:solidFill>
                <a:latin typeface="Aptos"/>
                <a:ea typeface="Aptos"/>
                <a:cs typeface="Aptos"/>
              </a:rPr>
              <a:t>413 file size</a:t>
            </a:r>
          </a:p>
          <a:p>
            <a:pPr algn="ctr">
              <a:defRPr sz="1050" b="0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803D"/>
                </a:solidFill>
                <a:latin typeface="Aptos"/>
                <a:ea typeface="Aptos"/>
                <a:cs typeface="Aptos"/>
              </a:rPr>
              <a:t>400 MIME type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200204-E769-4BE3-AC5E-3C175310EAB9}"/>
              </a:ext>
            </a:extLst>
          </p:cNvPr>
          <p:cNvSpPr>
            <a:spLocks noGrp="1"/>
          </p:cNvSpPr>
          <p:nvPr/>
        </p:nvSpPr>
        <p:spPr>
          <a:xfrm>
            <a:off x="8305800" y="4019550"/>
            <a:ext cx="1619250" cy="857250"/>
          </a:xfrm>
          <a:prstGeom prst="rect">
            <a:avLst/>
          </a:prstGeom>
          <a:solidFill>
            <a:srgbClr val="DCFCE7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6C7F630-1703-4441-9926-985011ECBB22}"/>
              </a:ext>
            </a:extLst>
          </p:cNvPr>
          <p:cNvSpPr>
            <a:spLocks noGrp="1"/>
          </p:cNvSpPr>
          <p:nvPr/>
        </p:nvSpPr>
        <p:spPr>
          <a:xfrm>
            <a:off x="8439150" y="417195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803D"/>
                </a:solidFill>
                <a:latin typeface="Aptos"/>
                <a:ea typeface="Aptos"/>
                <a:cs typeface="Aptos"/>
              </a:rPr>
              <a:t>soft deletes</a:t>
            </a:r>
          </a:p>
          <a:p>
            <a:pPr algn="ctr">
              <a:defRPr sz="1050" b="0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803D"/>
                </a:solidFill>
                <a:latin typeface="Aptos"/>
                <a:ea typeface="Aptos"/>
                <a:cs typeface="Aptos"/>
              </a:rPr>
              <a:t>transaction locks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AFBBF9F-4A06-4BF5-8A7C-A37A7FB6EA97}"/>
              </a:ext>
            </a:extLst>
          </p:cNvPr>
          <p:cNvSpPr>
            <a:spLocks noGrp="1"/>
          </p:cNvSpPr>
          <p:nvPr/>
        </p:nvSpPr>
        <p:spPr>
          <a:xfrm>
            <a:off x="762000" y="5257800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Proof files: utils/validate.js, routes/reports.js, routes/absences.js, migrations/*.cjs</a:t>
            </a:r>
          </a:p>
        </p:txBody>
      </p:sp>
    </p:spTree>
    <p:extLst>
      <p:ext uri="{BB962C8B-B14F-4D97-AF65-F5344CB8AC3E}">
        <p14:creationId xmlns:p14="http://schemas.microsoft.com/office/powerpoint/2010/main" val="922185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449D91DC-13CF-40E8-AB0B-2005CC88D7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EED6A451-76F1-4C62-AC55-A2E7279B88E8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66D882-B23B-4D86-96EF-B952472D606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906000" cy="9525"/>
          </a:xfrm>
          <a:prstGeom prst="rect">
            <a:avLst/>
          </a:prstGeom>
          <a:solidFill>
            <a:srgbClr val="D9D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153923-5AF3-443C-88E9-AA654326C025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609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Time Watch / dev branch / security &amp; validation review</a:t>
            </a:r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8E9D34AA-0724-40CF-A184-E000FAD1FB7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47650" cy="28575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C1B24A49-9007-4D34-BF64-767733FC24BA}"/>
              </a:ext>
            </a:extLst>
          </p:cNvPr>
          <p:cNvSpPr>
            <a:spLocks noGrp="1"/>
          </p:cNvSpPr>
          <p:nvPr/>
        </p:nvSpPr>
        <p:spPr>
          <a:xfrm>
            <a:off x="97155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803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5803D"/>
                </a:solidFill>
                <a:latin typeface="Aptos Mono"/>
                <a:ea typeface="Aptos Mono"/>
                <a:cs typeface="Aptos Mono"/>
              </a:rPr>
              <a:t>BUSINESS RULES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1A9AA7-E526-4392-9652-64B3C3B8142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reporting engine protects payroll data before it writes.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DAF498-D95F-4617-846C-5808525092E5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Time and absence routes enforce month locks, ownership, date validity, and constrained edits.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9826C-DC2C-49AD-A664-3B30685FF564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Work report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1C9274-5CE5-4F08-AEAD-57AD00D1F887}"/>
              </a:ext>
            </a:extLst>
          </p:cNvPr>
          <p:cNvSpPr>
            <a:spLocks noGrp="1"/>
          </p:cNvSpPr>
          <p:nvPr/>
        </p:nvSpPr>
        <p:spPr>
          <a:xfrm>
            <a:off x="2038350" y="2476500"/>
            <a:ext cx="1314450" cy="552450"/>
          </a:xfrm>
          <a:prstGeom prst="rect">
            <a:avLst/>
          </a:prstGeom>
          <a:solidFill>
            <a:srgbClr val="EAF0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BEAF6C-802A-4FFC-8011-8709217AE1A8}"/>
              </a:ext>
            </a:extLst>
          </p:cNvPr>
          <p:cNvSpPr>
            <a:spLocks noGrp="1"/>
          </p:cNvSpPr>
          <p:nvPr/>
        </p:nvSpPr>
        <p:spPr>
          <a:xfrm>
            <a:off x="2133600" y="26289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date required</a:t>
            </a:r>
          </a:p>
        </p:txBody>
      </p:sp>
      <p:sp>
        <p:nvSpPr>
          <p:cNvPr id="12" name="connector">
            <a:extLst>
              <a:ext uri="{FF2B5EF4-FFF2-40B4-BE49-F238E27FC236}">
                <a16:creationId xmlns:a16="http://schemas.microsoft.com/office/drawing/2014/main" id="{D648DAD0-E3A2-424C-AB9D-A657BC1EBE89}"/>
              </a:ext>
            </a:extLst>
          </p:cNvPr>
          <p:cNvSpPr>
            <a:spLocks noGrp="1"/>
          </p:cNvSpPr>
          <p:nvPr/>
        </p:nvSpPr>
        <p:spPr>
          <a:xfrm>
            <a:off x="3409950" y="2752725"/>
            <a:ext cx="2667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arrow-head">
            <a:extLst>
              <a:ext uri="{FF2B5EF4-FFF2-40B4-BE49-F238E27FC236}">
                <a16:creationId xmlns:a16="http://schemas.microsoft.com/office/drawing/2014/main" id="{3BF24EDD-D532-408B-A420-21763F30C428}"/>
              </a:ext>
            </a:extLst>
          </p:cNvPr>
          <p:cNvSpPr>
            <a:spLocks noGrp="1"/>
          </p:cNvSpPr>
          <p:nvPr/>
        </p:nvSpPr>
        <p:spPr>
          <a:xfrm rot="5400000">
            <a:off x="3609975" y="2705100"/>
            <a:ext cx="95250" cy="95250"/>
          </a:xfrm>
          <a:prstGeom prst="triangl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43C1F-3279-4395-960F-D101D829DDC2}"/>
              </a:ext>
            </a:extLst>
          </p:cNvPr>
          <p:cNvSpPr>
            <a:spLocks noGrp="1"/>
          </p:cNvSpPr>
          <p:nvPr/>
        </p:nvSpPr>
        <p:spPr>
          <a:xfrm>
            <a:off x="3733800" y="2476500"/>
            <a:ext cx="13144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D48A07-C3B3-45CE-8CD7-AF82D86C5BE8}"/>
              </a:ext>
            </a:extLst>
          </p:cNvPr>
          <p:cNvSpPr>
            <a:spLocks noGrp="1"/>
          </p:cNvSpPr>
          <p:nvPr/>
        </p:nvSpPr>
        <p:spPr>
          <a:xfrm>
            <a:off x="3829050" y="26289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entries array</a:t>
            </a:r>
          </a:p>
        </p:txBody>
      </p:sp>
      <p:sp>
        <p:nvSpPr>
          <p:cNvPr id="16" name="connector">
            <a:extLst>
              <a:ext uri="{FF2B5EF4-FFF2-40B4-BE49-F238E27FC236}">
                <a16:creationId xmlns:a16="http://schemas.microsoft.com/office/drawing/2014/main" id="{BBCD7E3F-B5F8-4D86-B40E-3970353E4E91}"/>
              </a:ext>
            </a:extLst>
          </p:cNvPr>
          <p:cNvSpPr>
            <a:spLocks noGrp="1"/>
          </p:cNvSpPr>
          <p:nvPr/>
        </p:nvSpPr>
        <p:spPr>
          <a:xfrm>
            <a:off x="5105400" y="2752725"/>
            <a:ext cx="2667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arrow-head">
            <a:extLst>
              <a:ext uri="{FF2B5EF4-FFF2-40B4-BE49-F238E27FC236}">
                <a16:creationId xmlns:a16="http://schemas.microsoft.com/office/drawing/2014/main" id="{CE490232-376D-4258-918D-1E9049F40BDA}"/>
              </a:ext>
            </a:extLst>
          </p:cNvPr>
          <p:cNvSpPr>
            <a:spLocks noGrp="1"/>
          </p:cNvSpPr>
          <p:nvPr/>
        </p:nvSpPr>
        <p:spPr>
          <a:xfrm rot="5400000">
            <a:off x="5305425" y="2705100"/>
            <a:ext cx="95250" cy="95250"/>
          </a:xfrm>
          <a:prstGeom prst="triangl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9B6338-7A88-4F1F-AF69-19E35B4A21A9}"/>
              </a:ext>
            </a:extLst>
          </p:cNvPr>
          <p:cNvSpPr>
            <a:spLocks noGrp="1"/>
          </p:cNvSpPr>
          <p:nvPr/>
        </p:nvSpPr>
        <p:spPr>
          <a:xfrm>
            <a:off x="5429250" y="2476500"/>
            <a:ext cx="1314450" cy="552450"/>
          </a:xfrm>
          <a:prstGeom prst="rect">
            <a:avLst/>
          </a:prstGeom>
          <a:solidFill>
            <a:srgbClr val="EAF0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11CF07-849B-47A1-BF74-17FF9F8E17DA}"/>
              </a:ext>
            </a:extLst>
          </p:cNvPr>
          <p:cNvSpPr>
            <a:spLocks noGrp="1"/>
          </p:cNvSpPr>
          <p:nvPr/>
        </p:nvSpPr>
        <p:spPr>
          <a:xfrm>
            <a:off x="5524500" y="26289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resolves</a:t>
            </a:r>
          </a:p>
        </p:txBody>
      </p:sp>
      <p:sp>
        <p:nvSpPr>
          <p:cNvPr id="20" name="connector">
            <a:extLst>
              <a:ext uri="{FF2B5EF4-FFF2-40B4-BE49-F238E27FC236}">
                <a16:creationId xmlns:a16="http://schemas.microsoft.com/office/drawing/2014/main" id="{6EC8BC3A-AFED-49A3-A430-EE766D5B7175}"/>
              </a:ext>
            </a:extLst>
          </p:cNvPr>
          <p:cNvSpPr>
            <a:spLocks noGrp="1"/>
          </p:cNvSpPr>
          <p:nvPr/>
        </p:nvSpPr>
        <p:spPr>
          <a:xfrm>
            <a:off x="6800850" y="2752725"/>
            <a:ext cx="2667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arrow-head">
            <a:extLst>
              <a:ext uri="{FF2B5EF4-FFF2-40B4-BE49-F238E27FC236}">
                <a16:creationId xmlns:a16="http://schemas.microsoft.com/office/drawing/2014/main" id="{2BFB3F65-21B0-49E8-9967-4D9BADDB3A2A}"/>
              </a:ext>
            </a:extLst>
          </p:cNvPr>
          <p:cNvSpPr>
            <a:spLocks noGrp="1"/>
          </p:cNvSpPr>
          <p:nvPr/>
        </p:nvSpPr>
        <p:spPr>
          <a:xfrm rot="5400000">
            <a:off x="7000875" y="2705100"/>
            <a:ext cx="95250" cy="95250"/>
          </a:xfrm>
          <a:prstGeom prst="triangl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4C7A54-D12B-45E6-90D7-B479F09452A0}"/>
              </a:ext>
            </a:extLst>
          </p:cNvPr>
          <p:cNvSpPr>
            <a:spLocks noGrp="1"/>
          </p:cNvSpPr>
          <p:nvPr/>
        </p:nvSpPr>
        <p:spPr>
          <a:xfrm>
            <a:off x="7124700" y="2476500"/>
            <a:ext cx="13144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2A8998-54C6-4A40-AA6A-EBB8CD1AD685}"/>
              </a:ext>
            </a:extLst>
          </p:cNvPr>
          <p:cNvSpPr>
            <a:spLocks noGrp="1"/>
          </p:cNvSpPr>
          <p:nvPr/>
        </p:nvSpPr>
        <p:spPr>
          <a:xfrm>
            <a:off x="7219950" y="26289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day &lt;= 24h</a:t>
            </a:r>
          </a:p>
        </p:txBody>
      </p:sp>
      <p:sp>
        <p:nvSpPr>
          <p:cNvPr id="24" name="connector">
            <a:extLst>
              <a:ext uri="{FF2B5EF4-FFF2-40B4-BE49-F238E27FC236}">
                <a16:creationId xmlns:a16="http://schemas.microsoft.com/office/drawing/2014/main" id="{DBEB4C0C-887D-4E83-AE60-C22A3B7492C2}"/>
              </a:ext>
            </a:extLst>
          </p:cNvPr>
          <p:cNvSpPr>
            <a:spLocks noGrp="1"/>
          </p:cNvSpPr>
          <p:nvPr/>
        </p:nvSpPr>
        <p:spPr>
          <a:xfrm>
            <a:off x="8496300" y="2752725"/>
            <a:ext cx="2667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arrow-head">
            <a:extLst>
              <a:ext uri="{FF2B5EF4-FFF2-40B4-BE49-F238E27FC236}">
                <a16:creationId xmlns:a16="http://schemas.microsoft.com/office/drawing/2014/main" id="{DC8C72C0-341C-4962-B3C0-983CC611BDA5}"/>
              </a:ext>
            </a:extLst>
          </p:cNvPr>
          <p:cNvSpPr>
            <a:spLocks noGrp="1"/>
          </p:cNvSpPr>
          <p:nvPr/>
        </p:nvSpPr>
        <p:spPr>
          <a:xfrm rot="5400000">
            <a:off x="8696325" y="2705100"/>
            <a:ext cx="95250" cy="95250"/>
          </a:xfrm>
          <a:prstGeom prst="triangl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88E54F-2066-4833-A93E-89C1AA660369}"/>
              </a:ext>
            </a:extLst>
          </p:cNvPr>
          <p:cNvSpPr>
            <a:spLocks noGrp="1"/>
          </p:cNvSpPr>
          <p:nvPr/>
        </p:nvSpPr>
        <p:spPr>
          <a:xfrm>
            <a:off x="8820150" y="2476500"/>
            <a:ext cx="1314450" cy="552450"/>
          </a:xfrm>
          <a:prstGeom prst="rect">
            <a:avLst/>
          </a:prstGeom>
          <a:solidFill>
            <a:srgbClr val="EAF0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9B9666-1BC0-4C2C-BDB1-F636E671F6EC}"/>
              </a:ext>
            </a:extLst>
          </p:cNvPr>
          <p:cNvSpPr>
            <a:spLocks noGrp="1"/>
          </p:cNvSpPr>
          <p:nvPr/>
        </p:nvSpPr>
        <p:spPr>
          <a:xfrm>
            <a:off x="8915400" y="26289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transaction insert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A381A5-3868-44EC-95EA-C75286AD1459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Absence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E6B10B-F107-4306-8F62-C3A481621B85}"/>
              </a:ext>
            </a:extLst>
          </p:cNvPr>
          <p:cNvSpPr>
            <a:spLocks noGrp="1"/>
          </p:cNvSpPr>
          <p:nvPr/>
        </p:nvSpPr>
        <p:spPr>
          <a:xfrm>
            <a:off x="2038350" y="3352800"/>
            <a:ext cx="1314450" cy="552450"/>
          </a:xfrm>
          <a:prstGeom prst="rect">
            <a:avLst/>
          </a:prstGeom>
          <a:solidFill>
            <a:srgbClr val="EAF0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31F0C1-BC25-4DE0-BE6E-BDFD6B5B945D}"/>
              </a:ext>
            </a:extLst>
          </p:cNvPr>
          <p:cNvSpPr>
            <a:spLocks noGrp="1"/>
          </p:cNvSpPr>
          <p:nvPr/>
        </p:nvSpPr>
        <p:spPr>
          <a:xfrm>
            <a:off x="2133600" y="35052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 type</a:t>
            </a:r>
          </a:p>
        </p:txBody>
      </p:sp>
      <p:sp>
        <p:nvSpPr>
          <p:cNvPr id="31" name="connector">
            <a:extLst>
              <a:ext uri="{FF2B5EF4-FFF2-40B4-BE49-F238E27FC236}">
                <a16:creationId xmlns:a16="http://schemas.microsoft.com/office/drawing/2014/main" id="{95E992B1-6ADC-45C9-A46B-6B3BDB8E7FBF}"/>
              </a:ext>
            </a:extLst>
          </p:cNvPr>
          <p:cNvSpPr>
            <a:spLocks noGrp="1"/>
          </p:cNvSpPr>
          <p:nvPr/>
        </p:nvSpPr>
        <p:spPr>
          <a:xfrm>
            <a:off x="3409950" y="3629025"/>
            <a:ext cx="2667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arrow-head">
            <a:extLst>
              <a:ext uri="{FF2B5EF4-FFF2-40B4-BE49-F238E27FC236}">
                <a16:creationId xmlns:a16="http://schemas.microsoft.com/office/drawing/2014/main" id="{F7A25CC4-AD1A-4775-BBAA-EB95897FB168}"/>
              </a:ext>
            </a:extLst>
          </p:cNvPr>
          <p:cNvSpPr>
            <a:spLocks noGrp="1"/>
          </p:cNvSpPr>
          <p:nvPr/>
        </p:nvSpPr>
        <p:spPr>
          <a:xfrm rot="5400000">
            <a:off x="3609975" y="3581400"/>
            <a:ext cx="95250" cy="95250"/>
          </a:xfrm>
          <a:prstGeom prst="triangl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7F1E5A-726F-4C9F-922C-1963750D6D2C}"/>
              </a:ext>
            </a:extLst>
          </p:cNvPr>
          <p:cNvSpPr>
            <a:spLocks noGrp="1"/>
          </p:cNvSpPr>
          <p:nvPr/>
        </p:nvSpPr>
        <p:spPr>
          <a:xfrm>
            <a:off x="3733800" y="3352800"/>
            <a:ext cx="13144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A269CB-9921-4BA9-B1C0-E8E5CB302A27}"/>
              </a:ext>
            </a:extLst>
          </p:cNvPr>
          <p:cNvSpPr>
            <a:spLocks noGrp="1"/>
          </p:cNvSpPr>
          <p:nvPr/>
        </p:nvSpPr>
        <p:spPr>
          <a:xfrm>
            <a:off x="3829050" y="35052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date order</a:t>
            </a:r>
          </a:p>
        </p:txBody>
      </p:sp>
      <p:sp>
        <p:nvSpPr>
          <p:cNvPr id="35" name="connector">
            <a:extLst>
              <a:ext uri="{FF2B5EF4-FFF2-40B4-BE49-F238E27FC236}">
                <a16:creationId xmlns:a16="http://schemas.microsoft.com/office/drawing/2014/main" id="{36C5D6FC-DE50-48D3-943A-D0D963CD5602}"/>
              </a:ext>
            </a:extLst>
          </p:cNvPr>
          <p:cNvSpPr>
            <a:spLocks noGrp="1"/>
          </p:cNvSpPr>
          <p:nvPr/>
        </p:nvSpPr>
        <p:spPr>
          <a:xfrm>
            <a:off x="5105400" y="3629025"/>
            <a:ext cx="2667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arrow-head">
            <a:extLst>
              <a:ext uri="{FF2B5EF4-FFF2-40B4-BE49-F238E27FC236}">
                <a16:creationId xmlns:a16="http://schemas.microsoft.com/office/drawing/2014/main" id="{7A20241B-2252-48C2-BA7B-E7B60B6D99DF}"/>
              </a:ext>
            </a:extLst>
          </p:cNvPr>
          <p:cNvSpPr>
            <a:spLocks noGrp="1"/>
          </p:cNvSpPr>
          <p:nvPr/>
        </p:nvSpPr>
        <p:spPr>
          <a:xfrm rot="5400000">
            <a:off x="5305425" y="3581400"/>
            <a:ext cx="95250" cy="95250"/>
          </a:xfrm>
          <a:prstGeom prst="triangl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9887D0-6FF7-4C16-9F4C-FDE398CE037B}"/>
              </a:ext>
            </a:extLst>
          </p:cNvPr>
          <p:cNvSpPr>
            <a:spLocks noGrp="1"/>
          </p:cNvSpPr>
          <p:nvPr/>
        </p:nvSpPr>
        <p:spPr>
          <a:xfrm>
            <a:off x="5429250" y="3352800"/>
            <a:ext cx="1314450" cy="552450"/>
          </a:xfrm>
          <a:prstGeom prst="rect">
            <a:avLst/>
          </a:prstGeom>
          <a:solidFill>
            <a:srgbClr val="EAF0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DF3449-A024-4523-A093-BB86BDE08BB7}"/>
              </a:ext>
            </a:extLst>
          </p:cNvPr>
          <p:cNvSpPr>
            <a:spLocks noGrp="1"/>
          </p:cNvSpPr>
          <p:nvPr/>
        </p:nvSpPr>
        <p:spPr>
          <a:xfrm>
            <a:off x="5524500" y="35052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working days only</a:t>
            </a:r>
          </a:p>
        </p:txBody>
      </p:sp>
      <p:sp>
        <p:nvSpPr>
          <p:cNvPr id="39" name="connector">
            <a:extLst>
              <a:ext uri="{FF2B5EF4-FFF2-40B4-BE49-F238E27FC236}">
                <a16:creationId xmlns:a16="http://schemas.microsoft.com/office/drawing/2014/main" id="{816362EF-C70D-4E85-86DC-486A60863F1C}"/>
              </a:ext>
            </a:extLst>
          </p:cNvPr>
          <p:cNvSpPr>
            <a:spLocks noGrp="1"/>
          </p:cNvSpPr>
          <p:nvPr/>
        </p:nvSpPr>
        <p:spPr>
          <a:xfrm>
            <a:off x="6800850" y="3629025"/>
            <a:ext cx="2667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arrow-head">
            <a:extLst>
              <a:ext uri="{FF2B5EF4-FFF2-40B4-BE49-F238E27FC236}">
                <a16:creationId xmlns:a16="http://schemas.microsoft.com/office/drawing/2014/main" id="{35573AE4-557E-4FDA-B056-FA75485E5D0B}"/>
              </a:ext>
            </a:extLst>
          </p:cNvPr>
          <p:cNvSpPr>
            <a:spLocks noGrp="1"/>
          </p:cNvSpPr>
          <p:nvPr/>
        </p:nvSpPr>
        <p:spPr>
          <a:xfrm rot="5400000">
            <a:off x="7000875" y="3581400"/>
            <a:ext cx="95250" cy="95250"/>
          </a:xfrm>
          <a:prstGeom prst="triangl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334D90-EB42-4FCD-9A4A-1AC698546E7B}"/>
              </a:ext>
            </a:extLst>
          </p:cNvPr>
          <p:cNvSpPr>
            <a:spLocks noGrp="1"/>
          </p:cNvSpPr>
          <p:nvPr/>
        </p:nvSpPr>
        <p:spPr>
          <a:xfrm>
            <a:off x="7124700" y="3352800"/>
            <a:ext cx="13144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30F03B7-2E92-483B-BE91-DC06D626CEC3}"/>
              </a:ext>
            </a:extLst>
          </p:cNvPr>
          <p:cNvSpPr>
            <a:spLocks noGrp="1"/>
          </p:cNvSpPr>
          <p:nvPr/>
        </p:nvSpPr>
        <p:spPr>
          <a:xfrm>
            <a:off x="7219950" y="35052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partial hours rule</a:t>
            </a:r>
          </a:p>
        </p:txBody>
      </p:sp>
      <p:sp>
        <p:nvSpPr>
          <p:cNvPr id="43" name="connector">
            <a:extLst>
              <a:ext uri="{FF2B5EF4-FFF2-40B4-BE49-F238E27FC236}">
                <a16:creationId xmlns:a16="http://schemas.microsoft.com/office/drawing/2014/main" id="{596D6B0C-1899-492D-9715-6D400D70E3C9}"/>
              </a:ext>
            </a:extLst>
          </p:cNvPr>
          <p:cNvSpPr>
            <a:spLocks noGrp="1"/>
          </p:cNvSpPr>
          <p:nvPr/>
        </p:nvSpPr>
        <p:spPr>
          <a:xfrm>
            <a:off x="8496300" y="3629025"/>
            <a:ext cx="2667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arrow-head">
            <a:extLst>
              <a:ext uri="{FF2B5EF4-FFF2-40B4-BE49-F238E27FC236}">
                <a16:creationId xmlns:a16="http://schemas.microsoft.com/office/drawing/2014/main" id="{26C785A9-E2D4-48BA-B87D-75CD1793375C}"/>
              </a:ext>
            </a:extLst>
          </p:cNvPr>
          <p:cNvSpPr>
            <a:spLocks noGrp="1"/>
          </p:cNvSpPr>
          <p:nvPr/>
        </p:nvSpPr>
        <p:spPr>
          <a:xfrm rot="5400000">
            <a:off x="8696325" y="3581400"/>
            <a:ext cx="95250" cy="95250"/>
          </a:xfrm>
          <a:prstGeom prst="triangl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3445558-BBE4-426E-BDD5-AB061373DADA}"/>
              </a:ext>
            </a:extLst>
          </p:cNvPr>
          <p:cNvSpPr>
            <a:spLocks noGrp="1"/>
          </p:cNvSpPr>
          <p:nvPr/>
        </p:nvSpPr>
        <p:spPr>
          <a:xfrm>
            <a:off x="8820150" y="3352800"/>
            <a:ext cx="1314450" cy="552450"/>
          </a:xfrm>
          <a:prstGeom prst="rect">
            <a:avLst/>
          </a:prstGeom>
          <a:solidFill>
            <a:srgbClr val="EAF0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76E8937-2082-4982-896C-A4A66096DA0A}"/>
              </a:ext>
            </a:extLst>
          </p:cNvPr>
          <p:cNvSpPr>
            <a:spLocks noGrp="1"/>
          </p:cNvSpPr>
          <p:nvPr/>
        </p:nvSpPr>
        <p:spPr>
          <a:xfrm>
            <a:off x="8915400" y="35052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document later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6DFB76B-C78F-46F4-BB21-CA3D67543947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Timer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1D138A5-E540-4733-A58D-2B24327F5E52}"/>
              </a:ext>
            </a:extLst>
          </p:cNvPr>
          <p:cNvSpPr>
            <a:spLocks noGrp="1"/>
          </p:cNvSpPr>
          <p:nvPr/>
        </p:nvSpPr>
        <p:spPr>
          <a:xfrm>
            <a:off x="2038350" y="4229100"/>
            <a:ext cx="1314450" cy="552450"/>
          </a:xfrm>
          <a:prstGeom prst="rect">
            <a:avLst/>
          </a:prstGeom>
          <a:solidFill>
            <a:srgbClr val="EAF0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F4AA607-BB4F-4E7F-ACC9-75320831FFEC}"/>
              </a:ext>
            </a:extLst>
          </p:cNvPr>
          <p:cNvSpPr>
            <a:spLocks noGrp="1"/>
          </p:cNvSpPr>
          <p:nvPr/>
        </p:nvSpPr>
        <p:spPr>
          <a:xfrm>
            <a:off x="2133600" y="43815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one active timer</a:t>
            </a:r>
          </a:p>
        </p:txBody>
      </p:sp>
      <p:sp>
        <p:nvSpPr>
          <p:cNvPr id="50" name="connector">
            <a:extLst>
              <a:ext uri="{FF2B5EF4-FFF2-40B4-BE49-F238E27FC236}">
                <a16:creationId xmlns:a16="http://schemas.microsoft.com/office/drawing/2014/main" id="{22560577-B717-4C95-9394-3389E4C74950}"/>
              </a:ext>
            </a:extLst>
          </p:cNvPr>
          <p:cNvSpPr>
            <a:spLocks noGrp="1"/>
          </p:cNvSpPr>
          <p:nvPr/>
        </p:nvSpPr>
        <p:spPr>
          <a:xfrm>
            <a:off x="3409950" y="4505325"/>
            <a:ext cx="266700" cy="190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1" name="arrow-head">
            <a:extLst>
              <a:ext uri="{FF2B5EF4-FFF2-40B4-BE49-F238E27FC236}">
                <a16:creationId xmlns:a16="http://schemas.microsoft.com/office/drawing/2014/main" id="{24917067-ECBC-4009-B43E-660E65DCF398}"/>
              </a:ext>
            </a:extLst>
          </p:cNvPr>
          <p:cNvSpPr>
            <a:spLocks noGrp="1"/>
          </p:cNvSpPr>
          <p:nvPr/>
        </p:nvSpPr>
        <p:spPr>
          <a:xfrm rot="5400000">
            <a:off x="3609975" y="4457700"/>
            <a:ext cx="95250" cy="95250"/>
          </a:xfrm>
          <a:prstGeom prst="triangl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74DD46-367F-490B-9669-BB6E21253230}"/>
              </a:ext>
            </a:extLst>
          </p:cNvPr>
          <p:cNvSpPr>
            <a:spLocks noGrp="1"/>
          </p:cNvSpPr>
          <p:nvPr/>
        </p:nvSpPr>
        <p:spPr>
          <a:xfrm>
            <a:off x="3733800" y="4229100"/>
            <a:ext cx="13144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FA8707B-AE75-4FC2-9715-ED319371D48D}"/>
              </a:ext>
            </a:extLst>
          </p:cNvPr>
          <p:cNvSpPr>
            <a:spLocks noGrp="1"/>
          </p:cNvSpPr>
          <p:nvPr/>
        </p:nvSpPr>
        <p:spPr>
          <a:xfrm>
            <a:off x="3829050" y="43815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timezone-aware stop</a:t>
            </a:r>
          </a:p>
        </p:txBody>
      </p:sp>
      <p:sp>
        <p:nvSpPr>
          <p:cNvPr id="54" name="connector">
            <a:extLst>
              <a:ext uri="{FF2B5EF4-FFF2-40B4-BE49-F238E27FC236}">
                <a16:creationId xmlns:a16="http://schemas.microsoft.com/office/drawing/2014/main" id="{C6A43EAD-BC61-49C9-994C-090B00FDC074}"/>
              </a:ext>
            </a:extLst>
          </p:cNvPr>
          <p:cNvSpPr>
            <a:spLocks noGrp="1"/>
          </p:cNvSpPr>
          <p:nvPr/>
        </p:nvSpPr>
        <p:spPr>
          <a:xfrm>
            <a:off x="5105400" y="4505325"/>
            <a:ext cx="266700" cy="190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5" name="arrow-head">
            <a:extLst>
              <a:ext uri="{FF2B5EF4-FFF2-40B4-BE49-F238E27FC236}">
                <a16:creationId xmlns:a16="http://schemas.microsoft.com/office/drawing/2014/main" id="{CED6DA4E-3A8C-45EC-97F3-B6DBF7EC8E3A}"/>
              </a:ext>
            </a:extLst>
          </p:cNvPr>
          <p:cNvSpPr>
            <a:spLocks noGrp="1"/>
          </p:cNvSpPr>
          <p:nvPr/>
        </p:nvSpPr>
        <p:spPr>
          <a:xfrm rot="5400000">
            <a:off x="5305425" y="4457700"/>
            <a:ext cx="95250" cy="95250"/>
          </a:xfrm>
          <a:prstGeom prst="triangl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120C3CC-FC73-46B4-A539-AA6DE71EA1FF}"/>
              </a:ext>
            </a:extLst>
          </p:cNvPr>
          <p:cNvSpPr>
            <a:spLocks noGrp="1"/>
          </p:cNvSpPr>
          <p:nvPr/>
        </p:nvSpPr>
        <p:spPr>
          <a:xfrm>
            <a:off x="5429250" y="4229100"/>
            <a:ext cx="1314450" cy="552450"/>
          </a:xfrm>
          <a:prstGeom prst="rect">
            <a:avLst/>
          </a:prstGeom>
          <a:solidFill>
            <a:srgbClr val="EAF0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B02063-FC25-4E9C-85D4-0D6C26C6A33E}"/>
              </a:ext>
            </a:extLst>
          </p:cNvPr>
          <p:cNvSpPr>
            <a:spLocks noGrp="1"/>
          </p:cNvSpPr>
          <p:nvPr/>
        </p:nvSpPr>
        <p:spPr>
          <a:xfrm>
            <a:off x="5524500" y="43815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duration from epoch ms</a:t>
            </a:r>
          </a:p>
        </p:txBody>
      </p:sp>
      <p:sp>
        <p:nvSpPr>
          <p:cNvPr id="58" name="connector">
            <a:extLst>
              <a:ext uri="{FF2B5EF4-FFF2-40B4-BE49-F238E27FC236}">
                <a16:creationId xmlns:a16="http://schemas.microsoft.com/office/drawing/2014/main" id="{BC222D52-8EFF-4E0C-A884-BFC6561142A7}"/>
              </a:ext>
            </a:extLst>
          </p:cNvPr>
          <p:cNvSpPr>
            <a:spLocks noGrp="1"/>
          </p:cNvSpPr>
          <p:nvPr/>
        </p:nvSpPr>
        <p:spPr>
          <a:xfrm>
            <a:off x="6800850" y="4505325"/>
            <a:ext cx="266700" cy="190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9" name="arrow-head">
            <a:extLst>
              <a:ext uri="{FF2B5EF4-FFF2-40B4-BE49-F238E27FC236}">
                <a16:creationId xmlns:a16="http://schemas.microsoft.com/office/drawing/2014/main" id="{7C0F3912-3038-4531-8768-EA7052EB1AF6}"/>
              </a:ext>
            </a:extLst>
          </p:cNvPr>
          <p:cNvSpPr>
            <a:spLocks noGrp="1"/>
          </p:cNvSpPr>
          <p:nvPr/>
        </p:nvSpPr>
        <p:spPr>
          <a:xfrm rot="5400000">
            <a:off x="7000875" y="4457700"/>
            <a:ext cx="95250" cy="95250"/>
          </a:xfrm>
          <a:prstGeom prst="triangl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8B67E31-85CF-47F5-85BA-E0AC4E63C213}"/>
              </a:ext>
            </a:extLst>
          </p:cNvPr>
          <p:cNvSpPr>
            <a:spLocks noGrp="1"/>
          </p:cNvSpPr>
          <p:nvPr/>
        </p:nvSpPr>
        <p:spPr>
          <a:xfrm>
            <a:off x="7124700" y="4229100"/>
            <a:ext cx="13144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1A4B100-8430-416D-8F1D-EA3A33400A2E}"/>
              </a:ext>
            </a:extLst>
          </p:cNvPr>
          <p:cNvSpPr>
            <a:spLocks noGrp="1"/>
          </p:cNvSpPr>
          <p:nvPr/>
        </p:nvSpPr>
        <p:spPr>
          <a:xfrm>
            <a:off x="7219950" y="43815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nullable task/location</a:t>
            </a:r>
          </a:p>
        </p:txBody>
      </p:sp>
      <p:sp>
        <p:nvSpPr>
          <p:cNvPr id="62" name="connector">
            <a:extLst>
              <a:ext uri="{FF2B5EF4-FFF2-40B4-BE49-F238E27FC236}">
                <a16:creationId xmlns:a16="http://schemas.microsoft.com/office/drawing/2014/main" id="{BD83170C-8475-4AD2-A4F5-1DC0CC5F4399}"/>
              </a:ext>
            </a:extLst>
          </p:cNvPr>
          <p:cNvSpPr>
            <a:spLocks noGrp="1"/>
          </p:cNvSpPr>
          <p:nvPr/>
        </p:nvSpPr>
        <p:spPr>
          <a:xfrm>
            <a:off x="8496300" y="4505325"/>
            <a:ext cx="266700" cy="190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3" name="arrow-head">
            <a:extLst>
              <a:ext uri="{FF2B5EF4-FFF2-40B4-BE49-F238E27FC236}">
                <a16:creationId xmlns:a16="http://schemas.microsoft.com/office/drawing/2014/main" id="{47EB73B8-87BA-40B1-9A71-18AD37E192B2}"/>
              </a:ext>
            </a:extLst>
          </p:cNvPr>
          <p:cNvSpPr>
            <a:spLocks noGrp="1"/>
          </p:cNvSpPr>
          <p:nvPr/>
        </p:nvSpPr>
        <p:spPr>
          <a:xfrm rot="5400000">
            <a:off x="8696325" y="4457700"/>
            <a:ext cx="95250" cy="95250"/>
          </a:xfrm>
          <a:prstGeom prst="triangl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6F8D8D5-CCFC-4DCF-914C-88B7CAAFB48D}"/>
              </a:ext>
            </a:extLst>
          </p:cNvPr>
          <p:cNvSpPr>
            <a:spLocks noGrp="1"/>
          </p:cNvSpPr>
          <p:nvPr/>
        </p:nvSpPr>
        <p:spPr>
          <a:xfrm>
            <a:off x="8820150" y="4229100"/>
            <a:ext cx="1314450" cy="552450"/>
          </a:xfrm>
          <a:prstGeom prst="rect">
            <a:avLst/>
          </a:prstGeom>
          <a:solidFill>
            <a:srgbClr val="EAF0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C645558-8506-4D06-B23F-965ED183CB77}"/>
              </a:ext>
            </a:extLst>
          </p:cNvPr>
          <p:cNvSpPr>
            <a:spLocks noGrp="1"/>
          </p:cNvSpPr>
          <p:nvPr/>
        </p:nvSpPr>
        <p:spPr>
          <a:xfrm>
            <a:off x="8915400" y="43815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saved entry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FFD0902-DAB2-4C38-B31B-AAABEC2B5944}"/>
              </a:ext>
            </a:extLst>
          </p:cNvPr>
          <p:cNvSpPr>
            <a:spLocks noGrp="1"/>
          </p:cNvSpPr>
          <p:nvPr/>
        </p:nvSpPr>
        <p:spPr>
          <a:xfrm>
            <a:off x="7810500" y="5219700"/>
            <a:ext cx="2857500" cy="514350"/>
          </a:xfrm>
          <a:prstGeom prst="rect">
            <a:avLst/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E9F1EAE-37F3-4C55-9D21-1111BE8EB236}"/>
              </a:ext>
            </a:extLst>
          </p:cNvPr>
          <p:cNvSpPr>
            <a:spLocks noGrp="1"/>
          </p:cNvSpPr>
          <p:nvPr/>
        </p:nvSpPr>
        <p:spPr>
          <a:xfrm>
            <a:off x="8001000" y="535305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 lock returns 423 before mutation across reports and absences.</a:t>
            </a:r>
          </a:p>
        </p:txBody>
      </p:sp>
    </p:spTree>
    <p:extLst>
      <p:ext uri="{BB962C8B-B14F-4D97-AF65-F5344CB8AC3E}">
        <p14:creationId xmlns:p14="http://schemas.microsoft.com/office/powerpoint/2010/main" val="158930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D258711-9DE9-4926-898A-CADA0F90F7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DEDFF9CC-5555-427C-99C8-95233C096380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44E631-6513-4640-833A-088B19EC52F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906000" cy="9525"/>
          </a:xfrm>
          <a:prstGeom prst="rect">
            <a:avLst/>
          </a:prstGeom>
          <a:solidFill>
            <a:srgbClr val="D9D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E1BC25-9729-4481-BE7C-30C3F1C29DF7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609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Time Watch / dev branch / security &amp; validation review</a:t>
            </a:r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42CE3D15-4406-46BC-A45A-C5570E5AE50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47650" cy="28575"/>
          </a:xfrm>
          <a:prstGeom prst="rect">
            <a:avLst/>
          </a:prstGeom>
          <a:solidFill>
            <a:srgbClr val="B91C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86860964-0D1A-455C-AD79-532462624A2D}"/>
              </a:ext>
            </a:extLst>
          </p:cNvPr>
          <p:cNvSpPr>
            <a:spLocks noGrp="1"/>
          </p:cNvSpPr>
          <p:nvPr/>
        </p:nvSpPr>
        <p:spPr>
          <a:xfrm>
            <a:off x="97155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91C1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91C1C"/>
                </a:solidFill>
                <a:latin typeface="Aptos Mono"/>
                <a:ea typeface="Aptos Mono"/>
                <a:cs typeface="Aptos Mono"/>
              </a:rPr>
              <a:t>DATA INTEGRITY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B54744-925C-4E18-AA9D-4E640AAE3BB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Historical records are preserved while dangerous state changes are constrained.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6FC1FC-14AE-4666-BF04-0F7FE2942A4D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Schema design combines soft deletes, unique active indexes, foreign keys, row locks, and audit tables.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30132E-6D06-44EC-BE6D-11FC1C4F75FE}"/>
              </a:ext>
            </a:extLst>
          </p:cNvPr>
          <p:cNvSpPr>
            <a:spLocks noGrp="1"/>
          </p:cNvSpPr>
          <p:nvPr/>
        </p:nvSpPr>
        <p:spPr>
          <a:xfrm>
            <a:off x="1104900" y="2247900"/>
            <a:ext cx="8286750" cy="552450"/>
          </a:xfrm>
          <a:prstGeom prst="rect">
            <a:avLst/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CCA8D0-3156-41A0-A887-BA8A636372C0}"/>
              </a:ext>
            </a:extLst>
          </p:cNvPr>
          <p:cNvSpPr>
            <a:spLocks noGrp="1"/>
          </p:cNvSpPr>
          <p:nvPr/>
        </p:nvSpPr>
        <p:spPr>
          <a:xfrm>
            <a:off x="1352550" y="2409825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Soft deletes everywhere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CD6479-2158-4167-8CCE-405DCAB8D6A1}"/>
              </a:ext>
            </a:extLst>
          </p:cNvPr>
          <p:cNvSpPr>
            <a:spLocks noGrp="1"/>
          </p:cNvSpPr>
          <p:nvPr/>
        </p:nvSpPr>
        <p:spPr>
          <a:xfrm>
            <a:off x="3733800" y="2381250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deleted_at columns preserve history across users, clients, projects, tasks, reports, and absences.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A3D148-E5B0-45AF-B231-F0CB628820C8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8286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65E941-1675-4B68-B46F-771DDFA27CF5}"/>
              </a:ext>
            </a:extLst>
          </p:cNvPr>
          <p:cNvSpPr>
            <a:spLocks noGrp="1"/>
          </p:cNvSpPr>
          <p:nvPr/>
        </p:nvSpPr>
        <p:spPr>
          <a:xfrm>
            <a:off x="1352550" y="3190875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Unique active indexes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A866D1-2949-498D-A34C-B210E4CCDA3E}"/>
              </a:ext>
            </a:extLst>
          </p:cNvPr>
          <p:cNvSpPr>
            <a:spLocks noGrp="1"/>
          </p:cNvSpPr>
          <p:nvPr/>
        </p:nvSpPr>
        <p:spPr>
          <a:xfrm>
            <a:off x="3733800" y="3162300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email, client names, project names, task names, and user-task assignments are unique only while not deleted.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7F0308-7CA8-4ED1-8908-638F7949D3B5}"/>
              </a:ext>
            </a:extLst>
          </p:cNvPr>
          <p:cNvSpPr>
            <a:spLocks noGrp="1"/>
          </p:cNvSpPr>
          <p:nvPr/>
        </p:nvSpPr>
        <p:spPr>
          <a:xfrm>
            <a:off x="1104900" y="3810000"/>
            <a:ext cx="8286750" cy="552450"/>
          </a:xfrm>
          <a:prstGeom prst="rect">
            <a:avLst/>
          </a:prstGeom>
          <a:solidFill>
            <a:srgbClr val="FFF1D6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6C5DFC-69CB-4AC9-A4D7-015B5E08FC28}"/>
              </a:ext>
            </a:extLst>
          </p:cNvPr>
          <p:cNvSpPr>
            <a:spLocks noGrp="1"/>
          </p:cNvSpPr>
          <p:nvPr/>
        </p:nvSpPr>
        <p:spPr>
          <a:xfrm>
            <a:off x="1352550" y="3971925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Transactional admin safety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E2BDF5-19C5-42F1-8B23-EA2B9F5C8504}"/>
              </a:ext>
            </a:extLst>
          </p:cNvPr>
          <p:cNvSpPr>
            <a:spLocks noGrp="1"/>
          </p:cNvSpPr>
          <p:nvPr/>
        </p:nvSpPr>
        <p:spPr>
          <a:xfrm>
            <a:off x="3733800" y="3943350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FOR UPDATE locks protect last-active-admin demotion/deactivation checks.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062BD5-9B65-45E8-BFB9-106F19B9E669}"/>
              </a:ext>
            </a:extLst>
          </p:cNvPr>
          <p:cNvSpPr>
            <a:spLocks noGrp="1"/>
          </p:cNvSpPr>
          <p:nvPr/>
        </p:nvSpPr>
        <p:spPr>
          <a:xfrm>
            <a:off x="1104900" y="4591050"/>
            <a:ext cx="8286750" cy="552450"/>
          </a:xfrm>
          <a:prstGeom prst="rect">
            <a:avLst/>
          </a:prstGeom>
          <a:solidFill>
            <a:srgbClr val="E4F4F0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B4CDCD-CB9A-4382-BCF6-ECA02B574CF3}"/>
              </a:ext>
            </a:extLst>
          </p:cNvPr>
          <p:cNvSpPr>
            <a:spLocks noGrp="1"/>
          </p:cNvSpPr>
          <p:nvPr/>
        </p:nvSpPr>
        <p:spPr>
          <a:xfrm>
            <a:off x="1352550" y="4752975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Audit / lock metadata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472D01-617C-47EE-84DA-B138AD495889}"/>
              </a:ext>
            </a:extLst>
          </p:cNvPr>
          <p:cNvSpPr>
            <a:spLocks noGrp="1"/>
          </p:cNvSpPr>
          <p:nvPr/>
        </p:nvSpPr>
        <p:spPr>
          <a:xfrm>
            <a:off x="3733800" y="4724400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 audit and month-lock migrations create accountability for protected reporting periods.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263096-2D5F-4EF5-85B5-3CA9F390FC1C}"/>
              </a:ext>
            </a:extLst>
          </p:cNvPr>
          <p:cNvSpPr>
            <a:spLocks noGrp="1"/>
          </p:cNvSpPr>
          <p:nvPr/>
        </p:nvSpPr>
        <p:spPr>
          <a:xfrm>
            <a:off x="1104900" y="5562600"/>
            <a:ext cx="800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Integrity posture: application checks fail fast; database constraints catch impossible states.</a:t>
            </a:r>
          </a:p>
        </p:txBody>
      </p:sp>
    </p:spTree>
    <p:extLst>
      <p:ext uri="{BB962C8B-B14F-4D97-AF65-F5344CB8AC3E}">
        <p14:creationId xmlns:p14="http://schemas.microsoft.com/office/powerpoint/2010/main" val="1638014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EB516FC-D60F-41AB-A1F2-D3A166E64D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12D53D0D-9DE5-4880-9E95-2BA46DDCBA8D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1C0501-9ADE-4CDE-B73F-1B703CB8588E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906000" cy="9525"/>
          </a:xfrm>
          <a:prstGeom prst="rect">
            <a:avLst/>
          </a:prstGeom>
          <a:solidFill>
            <a:srgbClr val="D9D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8A6596-079D-4BBE-A2C4-64458F010126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609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Time Watch / dev branch / security &amp; validation review</a:t>
            </a:r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56ED0129-B8B7-4E6D-A60C-7986CE0953FA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476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B7850267-0AFE-4DDB-9908-76383342780E}"/>
              </a:ext>
            </a:extLst>
          </p:cNvPr>
          <p:cNvSpPr>
            <a:spLocks noGrp="1"/>
          </p:cNvSpPr>
          <p:nvPr/>
        </p:nvSpPr>
        <p:spPr>
          <a:xfrm>
            <a:off x="97155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DELIVERY POSTURE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3ED0B3-B17F-412A-AABE-FAFCD3ACA36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project has the right security scaffolding; CI enforcement is the next hardening target.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9E342C-7193-4AA9-9ADE-F6015116D2F3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Dockerized services, Swagger docs, and tests are present, while workflow commands currently tolerate failures with "|| true".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D95DCD-E3C6-4D3F-AD6C-A33E81A16A62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2857500" cy="2247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EB2091-AC6C-4891-9A9C-8B22CBDF88EF}"/>
              </a:ext>
            </a:extLst>
          </p:cNvPr>
          <p:cNvSpPr>
            <a:spLocks noGrp="1"/>
          </p:cNvSpPr>
          <p:nvPr/>
        </p:nvSpPr>
        <p:spPr>
          <a:xfrm>
            <a:off x="1085850" y="26860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Backend tests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490290-C4C5-4E9B-B1AE-68B805A32DEA}"/>
              </a:ext>
            </a:extLst>
          </p:cNvPr>
          <p:cNvSpPr>
            <a:spLocks noGrp="1"/>
          </p:cNvSpPr>
          <p:nvPr/>
        </p:nvSpPr>
        <p:spPr>
          <a:xfrm>
            <a:off x="1085850" y="3181350"/>
            <a:ext cx="2266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Jest + Postgres service + coverage command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31D0B0-48EF-47AF-A1E5-3B41AFB6145E}"/>
              </a:ext>
            </a:extLst>
          </p:cNvPr>
          <p:cNvSpPr>
            <a:spLocks noGrp="1"/>
          </p:cNvSpPr>
          <p:nvPr/>
        </p:nvSpPr>
        <p:spPr>
          <a:xfrm>
            <a:off x="1085850" y="38290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Security value: auth, route and repository tests cover core flows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635BFC-BB02-4A92-AC5C-A060E807BB97}"/>
              </a:ext>
            </a:extLst>
          </p:cNvPr>
          <p:cNvSpPr>
            <a:spLocks noGrp="1"/>
          </p:cNvSpPr>
          <p:nvPr/>
        </p:nvSpPr>
        <p:spPr>
          <a:xfrm>
            <a:off x="4286250" y="2381250"/>
            <a:ext cx="2857500" cy="2247900"/>
          </a:xfrm>
          <a:prstGeom prst="rect">
            <a:avLst/>
          </a:prstGeom>
          <a:solidFill>
            <a:srgbClr val="EAF0FF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28EAEC-A853-47E8-9EC3-ED7009543C97}"/>
              </a:ext>
            </a:extLst>
          </p:cNvPr>
          <p:cNvSpPr>
            <a:spLocks noGrp="1"/>
          </p:cNvSpPr>
          <p:nvPr/>
        </p:nvSpPr>
        <p:spPr>
          <a:xfrm>
            <a:off x="4514850" y="26860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Frontend tests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8035C6-E7EA-4015-AB86-879089322CE6}"/>
              </a:ext>
            </a:extLst>
          </p:cNvPr>
          <p:cNvSpPr>
            <a:spLocks noGrp="1"/>
          </p:cNvSpPr>
          <p:nvPr/>
        </p:nvSpPr>
        <p:spPr>
          <a:xfrm>
            <a:off x="4514850" y="3181350"/>
            <a:ext cx="2266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Vitest + React Testing Library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82A085-403F-41EC-AFB7-52B4304D46E9}"/>
              </a:ext>
            </a:extLst>
          </p:cNvPr>
          <p:cNvSpPr>
            <a:spLocks noGrp="1"/>
          </p:cNvSpPr>
          <p:nvPr/>
        </p:nvSpPr>
        <p:spPr>
          <a:xfrm>
            <a:off x="4514850" y="38290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Security value: guarded routes, auth provider, login form behavior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3ABB4E-7C44-4A31-9B9B-CC6DDF04F316}"/>
              </a:ext>
            </a:extLst>
          </p:cNvPr>
          <p:cNvSpPr>
            <a:spLocks noGrp="1"/>
          </p:cNvSpPr>
          <p:nvPr/>
        </p:nvSpPr>
        <p:spPr>
          <a:xfrm>
            <a:off x="7715250" y="2381250"/>
            <a:ext cx="2857500" cy="2247900"/>
          </a:xfrm>
          <a:prstGeom prst="rect">
            <a:avLst/>
          </a:prstGeom>
          <a:solidFill>
            <a:srgbClr val="E4F4F0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D6734F-73F5-4741-A690-8DE8DB4E02EE}"/>
              </a:ext>
            </a:extLst>
          </p:cNvPr>
          <p:cNvSpPr>
            <a:spLocks noGrp="1"/>
          </p:cNvSpPr>
          <p:nvPr/>
        </p:nvSpPr>
        <p:spPr>
          <a:xfrm>
            <a:off x="7943850" y="26860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Docs &amp; runtime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31E179-EA42-4553-9F1F-25310E943285}"/>
              </a:ext>
            </a:extLst>
          </p:cNvPr>
          <p:cNvSpPr>
            <a:spLocks noGrp="1"/>
          </p:cNvSpPr>
          <p:nvPr/>
        </p:nvSpPr>
        <p:spPr>
          <a:xfrm>
            <a:off x="7943850" y="3181350"/>
            <a:ext cx="2266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Swagger /api-docs + Docker Compose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693721-43A9-4F80-815E-EB27247B969C}"/>
              </a:ext>
            </a:extLst>
          </p:cNvPr>
          <p:cNvSpPr>
            <a:spLocks noGrp="1"/>
          </p:cNvSpPr>
          <p:nvPr/>
        </p:nvSpPr>
        <p:spPr>
          <a:xfrm>
            <a:off x="7943850" y="38290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Security value: documented cookie auth and reproducible services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A2BA67-86AC-4CBF-B1DE-00F3A3774890}"/>
              </a:ext>
            </a:extLst>
          </p:cNvPr>
          <p:cNvSpPr>
            <a:spLocks noGrp="1"/>
          </p:cNvSpPr>
          <p:nvPr/>
        </p:nvSpPr>
        <p:spPr>
          <a:xfrm>
            <a:off x="1524000" y="5200650"/>
            <a:ext cx="866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sz="12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501520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929</Words>
  <Application>Microsoft Office PowerPoint</Application>
  <DocSecurity>0</DocSecurity>
  <PresentationFormat>Widescreen</PresentationFormat>
  <Paragraphs>155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סער גבלינגר</cp:lastModifiedBy>
  <cp:revision>1</cp:revision>
  <dcterms:created xsi:type="dcterms:W3CDTF">2026-05-13T12:12:16Z</dcterms:created>
  <dcterms:modified xsi:type="dcterms:W3CDTF">2026-05-13T12:17:08Z</dcterms:modified>
</cp:coreProperties>
</file>